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6"/>
  </p:notesMasterIdLst>
  <p:sldIdLst>
    <p:sldId id="256" r:id="rId2"/>
    <p:sldId id="281" r:id="rId3"/>
    <p:sldId id="282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8" r:id="rId15"/>
    <p:sldId id="273" r:id="rId16"/>
    <p:sldId id="274" r:id="rId17"/>
    <p:sldId id="276" r:id="rId18"/>
    <p:sldId id="277" r:id="rId19"/>
    <p:sldId id="278" r:id="rId20"/>
    <p:sldId id="279" r:id="rId21"/>
    <p:sldId id="280" r:id="rId22"/>
    <p:sldId id="283" r:id="rId23"/>
    <p:sldId id="285" r:id="rId24"/>
    <p:sldId id="286" r:id="rId25"/>
    <p:sldId id="288" r:id="rId26"/>
    <p:sldId id="287" r:id="rId27"/>
    <p:sldId id="289" r:id="rId28"/>
    <p:sldId id="290" r:id="rId29"/>
    <p:sldId id="291" r:id="rId30"/>
    <p:sldId id="292" r:id="rId31"/>
    <p:sldId id="293" r:id="rId32"/>
    <p:sldId id="294" r:id="rId33"/>
    <p:sldId id="295" r:id="rId34"/>
    <p:sldId id="296" r:id="rId3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6F980A-E16E-4DC1-ACFE-342C4AE99A10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91F5C4-8A7B-4D5A-BCF4-0D68CDE6B2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59910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91F5C4-8A7B-4D5A-BCF4-0D68CDE6B20C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53779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91F5C4-8A7B-4D5A-BCF4-0D68CDE6B20C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56901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91F5C4-8A7B-4D5A-BCF4-0D68CDE6B20C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03975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91F5C4-8A7B-4D5A-BCF4-0D68CDE6B20C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81287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C65CC-3116-4931-9522-D9F66ACCFD66}" type="datetime1">
              <a:rPr lang="ru-RU" smtClean="0"/>
              <a:t>08.06.2026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C8664-78E5-4C8A-950D-AE5D980E48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6635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C5977-8E03-4E79-8209-CC74DE749875}" type="datetime1">
              <a:rPr lang="ru-RU" smtClean="0"/>
              <a:t>08.06.2026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C8664-78E5-4C8A-950D-AE5D980E48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3828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F4EC1-E6B3-4C10-B74F-330FD0649C6B}" type="datetime1">
              <a:rPr lang="ru-RU" smtClean="0"/>
              <a:t>08.06.2026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C8664-78E5-4C8A-950D-AE5D980E48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2108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2E704-0443-49B8-8056-7CFD39F69BAE}" type="datetime1">
              <a:rPr lang="ru-RU" smtClean="0"/>
              <a:t>08.06.2026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C8664-78E5-4C8A-950D-AE5D980E48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4220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874C5-0FD2-4DFF-958F-EE950289B14E}" type="datetime1">
              <a:rPr lang="ru-RU" smtClean="0"/>
              <a:t>08.06.2026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C8664-78E5-4C8A-950D-AE5D980E48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5850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E90A0-1AB2-47A0-8943-58C17545C6C2}" type="datetime1">
              <a:rPr lang="ru-RU" smtClean="0"/>
              <a:t>08.06.2026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C8664-78E5-4C8A-950D-AE5D980E48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3872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ADAD0-A34C-42BF-B548-144B4E71CFA0}" type="datetime1">
              <a:rPr lang="ru-RU" smtClean="0"/>
              <a:t>08.06.2026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C8664-78E5-4C8A-950D-AE5D980E48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8662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6B015-9774-48B2-8AA4-1A4EFFE13DD5}" type="datetime1">
              <a:rPr lang="ru-RU" smtClean="0"/>
              <a:t>08.06.2026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C8664-78E5-4C8A-950D-AE5D980E48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1647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A6162-7B02-4238-8CD4-473A962AEC2A}" type="datetime1">
              <a:rPr lang="ru-RU" smtClean="0"/>
              <a:t>08.06.2026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C8664-78E5-4C8A-950D-AE5D980E48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57644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78F62-0EBA-4E38-AC96-CFAE7B6605CC}" type="datetime1">
              <a:rPr lang="ru-RU" smtClean="0"/>
              <a:t>08.06.2026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C8664-78E5-4C8A-950D-AE5D980E48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5675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C650C-E347-41C9-BE11-9016E8FA0810}" type="datetime1">
              <a:rPr lang="ru-RU" smtClean="0"/>
              <a:t>08.06.2026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C8664-78E5-4C8A-950D-AE5D980E48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3362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 smtClean="0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 smtClean="0"/>
              <a:t>Образец текста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  <a:p>
            <a:pPr lvl="3"/>
            <a:r>
              <a:rPr lang="ru-RU" dirty="0" smtClean="0"/>
              <a:t>Четвертый уровень</a:t>
            </a:r>
          </a:p>
          <a:p>
            <a:pPr lvl="4"/>
            <a:r>
              <a:rPr lang="ru-RU" dirty="0" smtClean="0"/>
              <a:t>Пятый уровень</a:t>
            </a:r>
            <a:endParaRPr lang="ru-RU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07270D-6275-4875-BD76-025398DD5EC8}" type="datetime1">
              <a:rPr lang="ru-RU" smtClean="0"/>
              <a:t>08.06.2026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1C8664-78E5-4C8A-950D-AE5D980E48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1280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de-DE" sz="3600" dirty="0" err="1" smtClean="0"/>
              <a:t>Tokenization</a:t>
            </a:r>
            <a:r>
              <a:rPr lang="de-DE" sz="3600" dirty="0" smtClean="0"/>
              <a:t> </a:t>
            </a:r>
            <a:r>
              <a:rPr lang="ru-RU" sz="3600" dirty="0" smtClean="0"/>
              <a:t>и </a:t>
            </a:r>
            <a:r>
              <a:rPr lang="de-DE" sz="3600" dirty="0" err="1" smtClean="0"/>
              <a:t>Embeddings</a:t>
            </a:r>
            <a:endParaRPr lang="ru-RU" sz="36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sz="1800" dirty="0" smtClean="0"/>
              <a:t>Минеев Анатолий РИ-511055</a:t>
            </a: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1110035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3600" dirty="0" smtClean="0"/>
              <a:t>1. Токенизация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33145136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Токенизация</a:t>
            </a:r>
            <a:endParaRPr lang="ru-RU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C8664-78E5-4C8A-950D-AE5D980E4814}" type="slidenum">
              <a:rPr lang="ru-RU" smtClean="0"/>
              <a:t>3</a:t>
            </a:fld>
            <a:endParaRPr lang="ru-RU"/>
          </a:p>
        </p:txBody>
      </p:sp>
      <p:sp>
        <p:nvSpPr>
          <p:cNvPr id="4" name="Прямоугольник 3"/>
          <p:cNvSpPr/>
          <p:nvPr/>
        </p:nvSpPr>
        <p:spPr>
          <a:xfrm>
            <a:off x="838200" y="2060807"/>
            <a:ext cx="1035449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Токенизация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— это процесс разбиения текста на более мелкие единицы (токены)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3007856"/>
            <a:ext cx="1020984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 smtClean="0">
                <a:latin typeface="Arial" panose="020B0604020202020204" pitchFamily="34" charset="0"/>
                <a:cs typeface="Arial" panose="020B0604020202020204" pitchFamily="34" charset="0"/>
              </a:rPr>
              <a:t>Виды:</a:t>
            </a:r>
            <a:endParaRPr lang="en-US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arenR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Character-level 		</a:t>
            </a:r>
            <a:r>
              <a:rPr lang="en-US" sz="1600" dirty="0" smtClean="0">
                <a:latin typeface="Consolas" panose="020B0609020204030204" pitchFamily="49" charset="0"/>
                <a:cs typeface="Arial" panose="020B0604020202020204" pitchFamily="34" charset="0"/>
              </a:rPr>
              <a:t>["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T","o","k","e","n","</a:t>
            </a:r>
            <a:r>
              <a:rPr lang="en-US" sz="1600" dirty="0" err="1">
                <a:latin typeface="Consolas" panose="020B0609020204030204" pitchFamily="49" charset="0"/>
                <a:cs typeface="Arial" panose="020B0604020202020204" pitchFamily="34" charset="0"/>
              </a:rPr>
              <a:t>i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","z","a","t","</a:t>
            </a:r>
            <a:r>
              <a:rPr lang="en-US" sz="1600" dirty="0" err="1">
                <a:latin typeface="Consolas" panose="020B0609020204030204" pitchFamily="49" charset="0"/>
                <a:cs typeface="Arial" panose="020B0604020202020204" pitchFamily="34" charset="0"/>
              </a:rPr>
              <a:t>i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","</a:t>
            </a:r>
            <a:r>
              <a:rPr lang="en-US" sz="1600" dirty="0" err="1">
                <a:latin typeface="Consolas" panose="020B0609020204030204" pitchFamily="49" charset="0"/>
                <a:cs typeface="Arial" panose="020B0604020202020204" pitchFamily="34" charset="0"/>
              </a:rPr>
              <a:t>o","n</a:t>
            </a:r>
            <a:r>
              <a:rPr lang="en-US" sz="1600" dirty="0" smtClean="0">
                <a:latin typeface="Consolas" panose="020B0609020204030204" pitchFamily="49" charset="0"/>
                <a:cs typeface="Arial" panose="020B0604020202020204" pitchFamily="34" charset="0"/>
              </a:rPr>
              <a:t>",...]</a:t>
            </a:r>
          </a:p>
          <a:p>
            <a:pPr marL="342900" indent="-342900">
              <a:buAutoNum type="arabicParenR"/>
            </a:pP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arenR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Word-level			</a:t>
            </a:r>
            <a:r>
              <a:rPr lang="en-US" sz="1600" dirty="0" smtClean="0">
                <a:latin typeface="Consolas" panose="020B0609020204030204" pitchFamily="49" charset="0"/>
                <a:cs typeface="Arial" panose="020B0604020202020204" pitchFamily="34" charset="0"/>
              </a:rPr>
              <a:t>["Tokenization", "is", "fascinating", "!"]</a:t>
            </a:r>
          </a:p>
          <a:p>
            <a:pPr marL="342900" indent="-342900">
              <a:buAutoNum type="arabicParenR"/>
            </a:pP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arenR"/>
            </a:pP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Subword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-level 		</a:t>
            </a:r>
            <a:r>
              <a:rPr lang="en-US" sz="1600" dirty="0" smtClean="0">
                <a:latin typeface="Consolas" panose="020B0609020204030204" pitchFamily="49" charset="0"/>
                <a:cs typeface="Arial" panose="020B0604020202020204" pitchFamily="34" charset="0"/>
              </a:rPr>
              <a:t>["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Token", "</a:t>
            </a:r>
            <a:r>
              <a:rPr lang="en-US" sz="1600" dirty="0" err="1">
                <a:latin typeface="Consolas" panose="020B0609020204030204" pitchFamily="49" charset="0"/>
                <a:cs typeface="Arial" panose="020B0604020202020204" pitchFamily="34" charset="0"/>
              </a:rPr>
              <a:t>ization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", "is", "</a:t>
            </a:r>
            <a:r>
              <a:rPr lang="en-US" sz="1600" dirty="0" err="1">
                <a:latin typeface="Consolas" panose="020B0609020204030204" pitchFamily="49" charset="0"/>
                <a:cs typeface="Arial" panose="020B0604020202020204" pitchFamily="34" charset="0"/>
              </a:rPr>
              <a:t>fasc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", "</a:t>
            </a:r>
            <a:r>
              <a:rPr lang="en-US" sz="1600" dirty="0" err="1">
                <a:latin typeface="Consolas" panose="020B0609020204030204" pitchFamily="49" charset="0"/>
                <a:cs typeface="Arial" panose="020B0604020202020204" pitchFamily="34" charset="0"/>
              </a:rPr>
              <a:t>inating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", </a:t>
            </a:r>
            <a:r>
              <a:rPr lang="en-US" sz="1600" dirty="0" smtClean="0">
                <a:latin typeface="Consolas" panose="020B0609020204030204" pitchFamily="49" charset="0"/>
                <a:cs typeface="Arial" panose="020B0604020202020204" pitchFamily="34" charset="0"/>
              </a:rPr>
              <a:t>"!"]</a:t>
            </a:r>
            <a:endParaRPr lang="ru-RU" sz="1600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02195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BPE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838200" y="1321356"/>
            <a:ext cx="2159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dirty="0" smtClean="0">
                <a:latin typeface="Arial" panose="020B0604020202020204" pitchFamily="34" charset="0"/>
                <a:cs typeface="Arial" panose="020B0604020202020204" pitchFamily="34" charset="0"/>
              </a:rPr>
              <a:t>Byte-Pair Encoding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838200" y="2016426"/>
            <a:ext cx="44172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dirty="0" smtClean="0">
                <a:latin typeface="Arial" panose="020B0604020202020204" pitchFamily="34" charset="0"/>
                <a:cs typeface="Arial" panose="020B0604020202020204" pitchFamily="34" charset="0"/>
              </a:rPr>
              <a:t>GPT, GPT-2, </a:t>
            </a:r>
            <a:r>
              <a:rPr lang="de-DE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RoBERTa</a:t>
            </a:r>
            <a:r>
              <a:rPr lang="de-DE" dirty="0" smtClean="0">
                <a:latin typeface="Arial" panose="020B0604020202020204" pitchFamily="34" charset="0"/>
                <a:cs typeface="Arial" panose="020B0604020202020204" pitchFamily="34" charset="0"/>
              </a:rPr>
              <a:t>, BART,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DeBERTa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38200" y="3093236"/>
            <a:ext cx="1071164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Алгоритм:</a:t>
            </a:r>
          </a:p>
          <a:p>
            <a:endParaRPr lang="ru-RU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Анализируется весь обучающий корпус текстов. Изначально алфавит состоит из всех 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байт.</a:t>
            </a:r>
          </a:p>
          <a:p>
            <a:pPr marL="342900" lvl="0" indent="-342900">
              <a:buFont typeface="+mj-lt"/>
              <a:buAutoNum type="arabicPeriod"/>
            </a:pP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Алгоритм считает, какая пара </a:t>
            </a:r>
            <a:r>
              <a:rPr lang="ru-RU" dirty="0" err="1" smtClean="0">
                <a:latin typeface="Arial" panose="020B0604020202020204" pitchFamily="34" charset="0"/>
                <a:cs typeface="Arial" panose="020B0604020202020204" pitchFamily="34" charset="0"/>
              </a:rPr>
              <a:t>токенов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встречается вместе чаще всего, добавляет её в словарь и заменяет в корпусе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lvl="0" indent="-342900">
              <a:buFont typeface="+mj-lt"/>
              <a:buAutoNum type="arabicPeriod"/>
            </a:pP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Повторяем шаг 2, пока словарь не достигнет заданного размера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C8664-78E5-4C8A-950D-AE5D980E4814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6604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 работы </a:t>
            </a:r>
            <a:r>
              <a:rPr lang="en-US" dirty="0" smtClean="0"/>
              <a:t>BPE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838200" y="1690688"/>
            <a:ext cx="10711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«Мой дядя самых честных правил»</a:t>
            </a: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838199" y="2257121"/>
            <a:ext cx="1091583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600" dirty="0" smtClean="0">
                <a:latin typeface="Consolas" panose="020B0609020204030204" pitchFamily="49" charset="0"/>
              </a:rPr>
              <a:t>d0 9c d0 </a:t>
            </a:r>
            <a:r>
              <a:rPr lang="de-DE" sz="1600" dirty="0" err="1" smtClean="0">
                <a:latin typeface="Consolas" panose="020B0609020204030204" pitchFamily="49" charset="0"/>
              </a:rPr>
              <a:t>be</a:t>
            </a:r>
            <a:r>
              <a:rPr lang="de-DE" sz="1600" dirty="0" smtClean="0">
                <a:latin typeface="Consolas" panose="020B0609020204030204" pitchFamily="49" charset="0"/>
              </a:rPr>
              <a:t> d0 b9 20 d0 b4 d1 8f d0 b4 d1 8f 20 d1 81 d0 b0 d0 </a:t>
            </a:r>
            <a:r>
              <a:rPr lang="de-DE" sz="1600" dirty="0" err="1" smtClean="0">
                <a:latin typeface="Consolas" panose="020B0609020204030204" pitchFamily="49" charset="0"/>
              </a:rPr>
              <a:t>bc</a:t>
            </a:r>
            <a:r>
              <a:rPr lang="de-DE" sz="1600" dirty="0" smtClean="0">
                <a:latin typeface="Consolas" panose="020B0609020204030204" pitchFamily="49" charset="0"/>
              </a:rPr>
              <a:t> d1 8b d1 85 20 d1 87 d0 b5 d1 81 d1 82 d0 </a:t>
            </a:r>
            <a:r>
              <a:rPr lang="de-DE" sz="1600" dirty="0" err="1" smtClean="0">
                <a:latin typeface="Consolas" panose="020B0609020204030204" pitchFamily="49" charset="0"/>
              </a:rPr>
              <a:t>bd</a:t>
            </a:r>
            <a:r>
              <a:rPr lang="de-DE" sz="1600" dirty="0" smtClean="0">
                <a:latin typeface="Consolas" panose="020B0609020204030204" pitchFamily="49" charset="0"/>
              </a:rPr>
              <a:t> d1 8b d1 85 20 d0 </a:t>
            </a:r>
            <a:r>
              <a:rPr lang="de-DE" sz="1600" dirty="0" err="1" smtClean="0">
                <a:latin typeface="Consolas" panose="020B0609020204030204" pitchFamily="49" charset="0"/>
              </a:rPr>
              <a:t>bf</a:t>
            </a:r>
            <a:r>
              <a:rPr lang="de-DE" sz="1600" dirty="0" smtClean="0">
                <a:latin typeface="Consolas" panose="020B0609020204030204" pitchFamily="49" charset="0"/>
              </a:rPr>
              <a:t> d1 80 d0 b0 d0 b2 d0 b8 d0 </a:t>
            </a:r>
            <a:r>
              <a:rPr lang="de-DE" sz="1600" dirty="0" err="1" smtClean="0">
                <a:latin typeface="Consolas" panose="020B0609020204030204" pitchFamily="49" charset="0"/>
              </a:rPr>
              <a:t>bb</a:t>
            </a:r>
            <a:endParaRPr lang="ru-RU" sz="1600" dirty="0">
              <a:latin typeface="Consolas" panose="020B0609020204030204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38199" y="3408329"/>
            <a:ext cx="1080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Словарь:</a:t>
            </a:r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2015229" y="3439107"/>
            <a:ext cx="332025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 smtClean="0">
                <a:latin typeface="Consolas" panose="020B0609020204030204" pitchFamily="49" charset="0"/>
              </a:rPr>
              <a:t>00 01 … </a:t>
            </a:r>
            <a:r>
              <a:rPr lang="en-US" sz="1600" dirty="0" err="1" smtClean="0">
                <a:latin typeface="Consolas" panose="020B0609020204030204" pitchFamily="49" charset="0"/>
              </a:rPr>
              <a:t>fe</a:t>
            </a:r>
            <a:r>
              <a:rPr lang="en-US" sz="1600" dirty="0" smtClean="0">
                <a:latin typeface="Consolas" panose="020B0609020204030204" pitchFamily="49" charset="0"/>
              </a:rPr>
              <a:t> </a:t>
            </a:r>
            <a:r>
              <a:rPr lang="en-US" sz="1600" dirty="0" err="1" smtClean="0">
                <a:latin typeface="Consolas" panose="020B0609020204030204" pitchFamily="49" charset="0"/>
              </a:rPr>
              <a:t>ff</a:t>
            </a:r>
            <a:r>
              <a:rPr lang="en-US" sz="1600" dirty="0" smtClean="0">
                <a:latin typeface="Consolas" panose="020B0609020204030204" pitchFamily="49" charset="0"/>
              </a:rPr>
              <a:t> (256)</a:t>
            </a:r>
            <a:endParaRPr lang="ru-RU" sz="1600" dirty="0">
              <a:latin typeface="Consolas" panose="020B0609020204030204" pitchFamily="49" charset="0"/>
            </a:endParaRPr>
          </a:p>
        </p:txBody>
      </p:sp>
      <p:sp>
        <p:nvSpPr>
          <p:cNvPr id="10" name="Номер слайда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C8664-78E5-4C8A-950D-AE5D980E4814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1027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38200" y="1690688"/>
            <a:ext cx="10711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«Мой дядя самых честных правил»</a:t>
            </a: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838199" y="2257121"/>
            <a:ext cx="1091583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600" dirty="0" smtClean="0">
                <a:latin typeface="Consolas" panose="020B0609020204030204" pitchFamily="49" charset="0"/>
              </a:rPr>
              <a:t>d0 9c d0 </a:t>
            </a:r>
            <a:r>
              <a:rPr lang="de-DE" sz="1600" dirty="0" err="1" smtClean="0">
                <a:latin typeface="Consolas" panose="020B0609020204030204" pitchFamily="49" charset="0"/>
              </a:rPr>
              <a:t>be</a:t>
            </a:r>
            <a:r>
              <a:rPr lang="de-DE" sz="1600" dirty="0" smtClean="0">
                <a:latin typeface="Consolas" panose="020B0609020204030204" pitchFamily="49" charset="0"/>
              </a:rPr>
              <a:t> d0 b9 </a:t>
            </a:r>
            <a:r>
              <a:rPr lang="de-DE" sz="1600" b="1" dirty="0" smtClean="0">
                <a:solidFill>
                  <a:srgbClr val="0070C0"/>
                </a:solidFill>
                <a:latin typeface="Consolas" panose="020B0609020204030204" pitchFamily="49" charset="0"/>
              </a:rPr>
              <a:t>20 d0</a:t>
            </a:r>
            <a:r>
              <a:rPr lang="de-DE" sz="1600" dirty="0" smtClean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 smtClean="0">
                <a:latin typeface="Consolas" panose="020B0609020204030204" pitchFamily="49" charset="0"/>
              </a:rPr>
              <a:t>b4 d1 8f d0 b4 d1 8f 20 d1 81 d0 b0 d0 </a:t>
            </a:r>
            <a:r>
              <a:rPr lang="de-DE" sz="1600" dirty="0" err="1" smtClean="0">
                <a:latin typeface="Consolas" panose="020B0609020204030204" pitchFamily="49" charset="0"/>
              </a:rPr>
              <a:t>bc</a:t>
            </a:r>
            <a:r>
              <a:rPr lang="de-DE" sz="1600" dirty="0" smtClean="0">
                <a:latin typeface="Consolas" panose="020B0609020204030204" pitchFamily="49" charset="0"/>
              </a:rPr>
              <a:t> d1 8b d1 85 20 d1 87 d0 b5 d1 81 d1 82 d0 </a:t>
            </a:r>
            <a:r>
              <a:rPr lang="de-DE" sz="1600" dirty="0" err="1" smtClean="0">
                <a:latin typeface="Consolas" panose="020B0609020204030204" pitchFamily="49" charset="0"/>
              </a:rPr>
              <a:t>bd</a:t>
            </a:r>
            <a:r>
              <a:rPr lang="de-DE" sz="1600" dirty="0" smtClean="0">
                <a:latin typeface="Consolas" panose="020B0609020204030204" pitchFamily="49" charset="0"/>
              </a:rPr>
              <a:t> d1 8b d1 85 </a:t>
            </a:r>
            <a:r>
              <a:rPr lang="de-DE" sz="1600" b="1" dirty="0" smtClean="0">
                <a:solidFill>
                  <a:srgbClr val="0070C0"/>
                </a:solidFill>
                <a:latin typeface="Consolas" panose="020B0609020204030204" pitchFamily="49" charset="0"/>
              </a:rPr>
              <a:t>20 d0 </a:t>
            </a:r>
            <a:r>
              <a:rPr lang="de-DE" sz="1600" dirty="0" err="1" smtClean="0">
                <a:latin typeface="Consolas" panose="020B0609020204030204" pitchFamily="49" charset="0"/>
              </a:rPr>
              <a:t>bf</a:t>
            </a:r>
            <a:r>
              <a:rPr lang="de-DE" sz="1600" dirty="0" smtClean="0">
                <a:latin typeface="Consolas" panose="020B0609020204030204" pitchFamily="49" charset="0"/>
              </a:rPr>
              <a:t> d1 80 d0 b0 d0 b2 d0 b8 d0 </a:t>
            </a:r>
            <a:r>
              <a:rPr lang="de-DE" sz="1600" dirty="0" err="1" smtClean="0">
                <a:latin typeface="Consolas" panose="020B0609020204030204" pitchFamily="49" charset="0"/>
              </a:rPr>
              <a:t>bb</a:t>
            </a:r>
            <a:endParaRPr lang="ru-RU" sz="1600" dirty="0">
              <a:latin typeface="Consolas" panose="020B0609020204030204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38199" y="3408329"/>
            <a:ext cx="1080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Словарь:</a:t>
            </a:r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2015229" y="3439107"/>
            <a:ext cx="332025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 smtClean="0">
                <a:latin typeface="Consolas" panose="020B0609020204030204" pitchFamily="49" charset="0"/>
              </a:rPr>
              <a:t>00 01 … </a:t>
            </a:r>
            <a:r>
              <a:rPr lang="en-US" sz="1600" dirty="0" err="1" smtClean="0">
                <a:latin typeface="Consolas" panose="020B0609020204030204" pitchFamily="49" charset="0"/>
              </a:rPr>
              <a:t>fe</a:t>
            </a:r>
            <a:r>
              <a:rPr lang="en-US" sz="1600" dirty="0" smtClean="0">
                <a:latin typeface="Consolas" panose="020B0609020204030204" pitchFamily="49" charset="0"/>
              </a:rPr>
              <a:t> </a:t>
            </a:r>
            <a:r>
              <a:rPr lang="en-US" sz="1600" dirty="0" err="1" smtClean="0">
                <a:latin typeface="Consolas" panose="020B0609020204030204" pitchFamily="49" charset="0"/>
              </a:rPr>
              <a:t>ff</a:t>
            </a:r>
            <a:r>
              <a:rPr lang="en-US" sz="1600" dirty="0" smtClean="0">
                <a:latin typeface="Consolas" panose="020B0609020204030204" pitchFamily="49" charset="0"/>
              </a:rPr>
              <a:t> (256)</a:t>
            </a:r>
            <a:endParaRPr lang="ru-RU" sz="1600" dirty="0">
              <a:latin typeface="Consolas" panose="020B0609020204030204" pitchFamily="49" charset="0"/>
            </a:endParaRPr>
          </a:p>
        </p:txBody>
      </p:sp>
      <p:sp>
        <p:nvSpPr>
          <p:cNvPr id="10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dirty="0" smtClean="0"/>
              <a:t>Пример работы </a:t>
            </a:r>
            <a:r>
              <a:rPr lang="en-US" dirty="0" smtClean="0"/>
              <a:t>BPE</a:t>
            </a:r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923109" y="4693920"/>
            <a:ext cx="29841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Находим самую частую пару</a:t>
            </a:r>
            <a:endParaRPr lang="ru-RU" dirty="0"/>
          </a:p>
        </p:txBody>
      </p:sp>
      <p:sp>
        <p:nvSpPr>
          <p:cNvPr id="12" name="Номер слайда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C8664-78E5-4C8A-950D-AE5D980E4814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6747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38200" y="1690688"/>
            <a:ext cx="10711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«Мой дядя самых честных правил»</a:t>
            </a: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838199" y="2257121"/>
            <a:ext cx="1091583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600" dirty="0" smtClean="0">
                <a:latin typeface="Consolas" panose="020B0609020204030204" pitchFamily="49" charset="0"/>
              </a:rPr>
              <a:t>d0 9c d0 </a:t>
            </a:r>
            <a:r>
              <a:rPr lang="de-DE" sz="1600" dirty="0" err="1" smtClean="0">
                <a:latin typeface="Consolas" panose="020B0609020204030204" pitchFamily="49" charset="0"/>
              </a:rPr>
              <a:t>be</a:t>
            </a:r>
            <a:r>
              <a:rPr lang="de-DE" sz="1600" dirty="0" smtClean="0">
                <a:latin typeface="Consolas" panose="020B0609020204030204" pitchFamily="49" charset="0"/>
              </a:rPr>
              <a:t> d0 b9 </a:t>
            </a:r>
            <a:r>
              <a:rPr lang="de-DE" sz="1600" b="1" dirty="0" smtClean="0">
                <a:solidFill>
                  <a:srgbClr val="0070C0"/>
                </a:solidFill>
                <a:latin typeface="Consolas" panose="020B0609020204030204" pitchFamily="49" charset="0"/>
              </a:rPr>
              <a:t>20d0</a:t>
            </a:r>
            <a:r>
              <a:rPr lang="de-DE" sz="1600" dirty="0" smtClean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 smtClean="0">
                <a:latin typeface="Consolas" panose="020B0609020204030204" pitchFamily="49" charset="0"/>
              </a:rPr>
              <a:t>b4 d1 8f d0 b4 d1 8f 20 d1 81 d0 b0 d0 </a:t>
            </a:r>
            <a:r>
              <a:rPr lang="de-DE" sz="1600" dirty="0" err="1" smtClean="0">
                <a:latin typeface="Consolas" panose="020B0609020204030204" pitchFamily="49" charset="0"/>
              </a:rPr>
              <a:t>bc</a:t>
            </a:r>
            <a:r>
              <a:rPr lang="de-DE" sz="1600" dirty="0" smtClean="0">
                <a:latin typeface="Consolas" panose="020B0609020204030204" pitchFamily="49" charset="0"/>
              </a:rPr>
              <a:t> d1 8b d1 85 20 d1 87 d0 b5 d1 81 d1 82 d0 </a:t>
            </a:r>
            <a:r>
              <a:rPr lang="de-DE" sz="1600" dirty="0" err="1" smtClean="0">
                <a:latin typeface="Consolas" panose="020B0609020204030204" pitchFamily="49" charset="0"/>
              </a:rPr>
              <a:t>bd</a:t>
            </a:r>
            <a:r>
              <a:rPr lang="de-DE" sz="1600" dirty="0" smtClean="0">
                <a:latin typeface="Consolas" panose="020B0609020204030204" pitchFamily="49" charset="0"/>
              </a:rPr>
              <a:t> d1 8b d1 85 </a:t>
            </a:r>
            <a:r>
              <a:rPr lang="de-DE" sz="1600" b="1" dirty="0" smtClean="0">
                <a:solidFill>
                  <a:srgbClr val="0070C0"/>
                </a:solidFill>
                <a:latin typeface="Consolas" panose="020B0609020204030204" pitchFamily="49" charset="0"/>
              </a:rPr>
              <a:t>20d0 </a:t>
            </a:r>
            <a:r>
              <a:rPr lang="de-DE" sz="1600" dirty="0" err="1" smtClean="0">
                <a:latin typeface="Consolas" panose="020B0609020204030204" pitchFamily="49" charset="0"/>
              </a:rPr>
              <a:t>bf</a:t>
            </a:r>
            <a:r>
              <a:rPr lang="de-DE" sz="1600" dirty="0" smtClean="0">
                <a:latin typeface="Consolas" panose="020B0609020204030204" pitchFamily="49" charset="0"/>
              </a:rPr>
              <a:t> d1 80 d0 b0 d0 b2 d0 b8 d0 </a:t>
            </a:r>
            <a:r>
              <a:rPr lang="de-DE" sz="1600" dirty="0" err="1" smtClean="0">
                <a:latin typeface="Consolas" panose="020B0609020204030204" pitchFamily="49" charset="0"/>
              </a:rPr>
              <a:t>bb</a:t>
            </a:r>
            <a:endParaRPr lang="ru-RU" sz="1600" dirty="0">
              <a:latin typeface="Consolas" panose="020B0609020204030204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38199" y="3408329"/>
            <a:ext cx="1080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Словарь:</a:t>
            </a:r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2015229" y="3439107"/>
            <a:ext cx="332025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 smtClean="0">
                <a:latin typeface="Consolas" panose="020B0609020204030204" pitchFamily="49" charset="0"/>
              </a:rPr>
              <a:t>00 01 … </a:t>
            </a:r>
            <a:r>
              <a:rPr lang="en-US" sz="1600" dirty="0" err="1" smtClean="0">
                <a:latin typeface="Consolas" panose="020B0609020204030204" pitchFamily="49" charset="0"/>
              </a:rPr>
              <a:t>fe</a:t>
            </a:r>
            <a:r>
              <a:rPr lang="en-US" sz="1600" dirty="0" smtClean="0">
                <a:latin typeface="Consolas" panose="020B0609020204030204" pitchFamily="49" charset="0"/>
              </a:rPr>
              <a:t> </a:t>
            </a:r>
            <a:r>
              <a:rPr lang="en-US" sz="1600" dirty="0" err="1" smtClean="0">
                <a:latin typeface="Consolas" panose="020B0609020204030204" pitchFamily="49" charset="0"/>
              </a:rPr>
              <a:t>ff</a:t>
            </a:r>
            <a:r>
              <a:rPr lang="en-US" sz="1600" dirty="0" smtClean="0">
                <a:latin typeface="Consolas" panose="020B0609020204030204" pitchFamily="49" charset="0"/>
              </a:rPr>
              <a:t> </a:t>
            </a:r>
            <a:r>
              <a:rPr lang="en-US" sz="1600" dirty="0" smtClean="0">
                <a:solidFill>
                  <a:srgbClr val="0070C0"/>
                </a:solidFill>
                <a:latin typeface="Consolas" panose="020B0609020204030204" pitchFamily="49" charset="0"/>
              </a:rPr>
              <a:t>20d0</a:t>
            </a:r>
            <a:r>
              <a:rPr lang="en-US" sz="1600" dirty="0" smtClean="0">
                <a:latin typeface="Consolas" panose="020B0609020204030204" pitchFamily="49" charset="0"/>
              </a:rPr>
              <a:t> (257)</a:t>
            </a:r>
            <a:endParaRPr lang="ru-RU" sz="1600" dirty="0">
              <a:latin typeface="Consolas" panose="020B0609020204030204" pitchFamily="49" charset="0"/>
            </a:endParaRPr>
          </a:p>
        </p:txBody>
      </p:sp>
      <p:sp>
        <p:nvSpPr>
          <p:cNvPr id="10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dirty="0" smtClean="0"/>
              <a:t>Пример работы </a:t>
            </a:r>
            <a:r>
              <a:rPr lang="en-US" dirty="0" smtClean="0"/>
              <a:t>BPE</a:t>
            </a:r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923109" y="4693920"/>
            <a:ext cx="6425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Добавляем эту пару в словарь и заменяем ей исходные токены</a:t>
            </a:r>
            <a:endParaRPr lang="ru-RU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C8664-78E5-4C8A-950D-AE5D980E4814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9678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38200" y="1690688"/>
            <a:ext cx="10711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«Мой дядя самых честных правил»</a:t>
            </a: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838199" y="2257121"/>
            <a:ext cx="1091583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600" dirty="0" smtClean="0">
                <a:latin typeface="Consolas" panose="020B0609020204030204" pitchFamily="49" charset="0"/>
              </a:rPr>
              <a:t>d0 9c d0 </a:t>
            </a:r>
            <a:r>
              <a:rPr lang="de-DE" sz="1600" dirty="0" err="1" smtClean="0">
                <a:latin typeface="Consolas" panose="020B0609020204030204" pitchFamily="49" charset="0"/>
              </a:rPr>
              <a:t>be</a:t>
            </a:r>
            <a:r>
              <a:rPr lang="de-DE" sz="1600" dirty="0" smtClean="0">
                <a:latin typeface="Consolas" panose="020B0609020204030204" pitchFamily="49" charset="0"/>
              </a:rPr>
              <a:t> d0 b9 20d0 b4d18f d0 b4d18f 20d1 81 d0b0d0 </a:t>
            </a:r>
            <a:r>
              <a:rPr lang="de-DE" sz="1600" dirty="0" err="1" smtClean="0">
                <a:latin typeface="Consolas" panose="020B0609020204030204" pitchFamily="49" charset="0"/>
              </a:rPr>
              <a:t>bc</a:t>
            </a:r>
            <a:r>
              <a:rPr lang="de-DE" sz="1600" dirty="0" smtClean="0">
                <a:latin typeface="Consolas" panose="020B0609020204030204" pitchFamily="49" charset="0"/>
              </a:rPr>
              <a:t> d18bd1 85 20d1 87 d0 b5 d1 81 d1 82 d0 </a:t>
            </a:r>
            <a:r>
              <a:rPr lang="de-DE" sz="1600" dirty="0" err="1" smtClean="0">
                <a:latin typeface="Consolas" panose="020B0609020204030204" pitchFamily="49" charset="0"/>
              </a:rPr>
              <a:t>bd</a:t>
            </a:r>
            <a:r>
              <a:rPr lang="de-DE" sz="1600" dirty="0" smtClean="0">
                <a:latin typeface="Consolas" panose="020B0609020204030204" pitchFamily="49" charset="0"/>
              </a:rPr>
              <a:t> d18bd1 85 20d0 </a:t>
            </a:r>
            <a:r>
              <a:rPr lang="de-DE" sz="1600" dirty="0" err="1" smtClean="0">
                <a:latin typeface="Consolas" panose="020B0609020204030204" pitchFamily="49" charset="0"/>
              </a:rPr>
              <a:t>bf</a:t>
            </a:r>
            <a:r>
              <a:rPr lang="de-DE" sz="1600" dirty="0" smtClean="0">
                <a:latin typeface="Consolas" panose="020B0609020204030204" pitchFamily="49" charset="0"/>
              </a:rPr>
              <a:t> d1 80 d0b0d0 b2 d0 b8 d0 </a:t>
            </a:r>
            <a:r>
              <a:rPr lang="de-DE" sz="1600" dirty="0" err="1" smtClean="0">
                <a:latin typeface="Consolas" panose="020B0609020204030204" pitchFamily="49" charset="0"/>
              </a:rPr>
              <a:t>bb</a:t>
            </a:r>
            <a:endParaRPr lang="ru-RU" sz="1600" dirty="0">
              <a:latin typeface="Consolas" panose="020B0609020204030204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38199" y="3408329"/>
            <a:ext cx="1080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Словарь:</a:t>
            </a:r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2015228" y="3439107"/>
            <a:ext cx="798221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 smtClean="0">
                <a:latin typeface="Consolas" panose="020B0609020204030204" pitchFamily="49" charset="0"/>
              </a:rPr>
              <a:t>00 01 … </a:t>
            </a:r>
            <a:r>
              <a:rPr lang="en-US" sz="1600" dirty="0" err="1" smtClean="0">
                <a:latin typeface="Consolas" panose="020B0609020204030204" pitchFamily="49" charset="0"/>
              </a:rPr>
              <a:t>fe</a:t>
            </a:r>
            <a:r>
              <a:rPr lang="en-US" sz="1600" dirty="0" smtClean="0">
                <a:latin typeface="Consolas" panose="020B0609020204030204" pitchFamily="49" charset="0"/>
              </a:rPr>
              <a:t> </a:t>
            </a:r>
            <a:r>
              <a:rPr lang="en-US" sz="1600" dirty="0" err="1" smtClean="0">
                <a:latin typeface="Consolas" panose="020B0609020204030204" pitchFamily="49" charset="0"/>
              </a:rPr>
              <a:t>ff</a:t>
            </a:r>
            <a:r>
              <a:rPr lang="en-US" sz="1600" dirty="0" smtClean="0">
                <a:latin typeface="Consolas" panose="020B0609020204030204" pitchFamily="49" charset="0"/>
              </a:rPr>
              <a:t> 20d0</a:t>
            </a:r>
            <a:r>
              <a:rPr lang="ru-RU" sz="1600" dirty="0" smtClean="0">
                <a:latin typeface="Consolas" panose="020B0609020204030204" pitchFamily="49" charset="0"/>
              </a:rPr>
              <a:t> </a:t>
            </a:r>
            <a:r>
              <a:rPr lang="de-DE" sz="1600" dirty="0" smtClean="0">
                <a:latin typeface="Consolas" panose="020B0609020204030204" pitchFamily="49" charset="0"/>
              </a:rPr>
              <a:t>20d1</a:t>
            </a:r>
            <a:r>
              <a:rPr lang="ru-RU" sz="1600" dirty="0" smtClean="0">
                <a:latin typeface="Consolas" panose="020B0609020204030204" pitchFamily="49" charset="0"/>
              </a:rPr>
              <a:t> </a:t>
            </a:r>
            <a:r>
              <a:rPr lang="de-DE" sz="1600" dirty="0" smtClean="0">
                <a:latin typeface="Consolas" panose="020B0609020204030204" pitchFamily="49" charset="0"/>
              </a:rPr>
              <a:t>b4d1</a:t>
            </a:r>
            <a:r>
              <a:rPr lang="ru-RU" sz="1600" dirty="0" smtClean="0">
                <a:latin typeface="Consolas" panose="020B0609020204030204" pitchFamily="49" charset="0"/>
              </a:rPr>
              <a:t> </a:t>
            </a:r>
            <a:r>
              <a:rPr lang="de-DE" sz="1600" dirty="0" smtClean="0">
                <a:latin typeface="Consolas" panose="020B0609020204030204" pitchFamily="49" charset="0"/>
              </a:rPr>
              <a:t>d0b0</a:t>
            </a:r>
            <a:r>
              <a:rPr lang="ru-RU" sz="1600" dirty="0" smtClean="0">
                <a:latin typeface="Consolas" panose="020B0609020204030204" pitchFamily="49" charset="0"/>
              </a:rPr>
              <a:t> </a:t>
            </a:r>
            <a:r>
              <a:rPr lang="de-DE" sz="1600" dirty="0" smtClean="0">
                <a:latin typeface="Consolas" panose="020B0609020204030204" pitchFamily="49" charset="0"/>
              </a:rPr>
              <a:t>b4d18f</a:t>
            </a:r>
            <a:r>
              <a:rPr lang="ru-RU" sz="1600" dirty="0" smtClean="0">
                <a:latin typeface="Consolas" panose="020B0609020204030204" pitchFamily="49" charset="0"/>
              </a:rPr>
              <a:t> </a:t>
            </a:r>
            <a:r>
              <a:rPr lang="de-DE" sz="1600" dirty="0" smtClean="0">
                <a:latin typeface="Consolas" panose="020B0609020204030204" pitchFamily="49" charset="0"/>
              </a:rPr>
              <a:t>d0b0d0</a:t>
            </a:r>
            <a:r>
              <a:rPr lang="ru-RU" sz="1600" dirty="0" smtClean="0">
                <a:latin typeface="Consolas" panose="020B0609020204030204" pitchFamily="49" charset="0"/>
              </a:rPr>
              <a:t> </a:t>
            </a:r>
            <a:r>
              <a:rPr lang="de-DE" sz="1600" dirty="0">
                <a:latin typeface="Consolas" panose="020B0609020204030204" pitchFamily="49" charset="0"/>
              </a:rPr>
              <a:t>d18b</a:t>
            </a:r>
            <a:r>
              <a:rPr lang="de-DE" sz="1600" dirty="0" smtClean="0">
                <a:latin typeface="Consolas" panose="020B0609020204030204" pitchFamily="49" charset="0"/>
              </a:rPr>
              <a:t> </a:t>
            </a:r>
            <a:r>
              <a:rPr lang="de-DE" sz="1600" dirty="0">
                <a:latin typeface="Consolas" panose="020B0609020204030204" pitchFamily="49" charset="0"/>
              </a:rPr>
              <a:t>d18bd1 </a:t>
            </a:r>
            <a:r>
              <a:rPr lang="en-US" sz="1600" dirty="0" smtClean="0">
                <a:latin typeface="Consolas" panose="020B0609020204030204" pitchFamily="49" charset="0"/>
              </a:rPr>
              <a:t>(2</a:t>
            </a:r>
            <a:r>
              <a:rPr lang="ru-RU" sz="1600" dirty="0" smtClean="0">
                <a:latin typeface="Consolas" panose="020B0609020204030204" pitchFamily="49" charset="0"/>
              </a:rPr>
              <a:t>64</a:t>
            </a:r>
            <a:r>
              <a:rPr lang="en-US" sz="1600" dirty="0" smtClean="0">
                <a:latin typeface="Consolas" panose="020B0609020204030204" pitchFamily="49" charset="0"/>
              </a:rPr>
              <a:t>)</a:t>
            </a:r>
            <a:endParaRPr lang="ru-RU" sz="1600" dirty="0">
              <a:latin typeface="Consolas" panose="020B0609020204030204" pitchFamily="49" charset="0"/>
            </a:endParaRPr>
          </a:p>
        </p:txBody>
      </p:sp>
      <p:sp>
        <p:nvSpPr>
          <p:cNvPr id="10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dirty="0" smtClean="0"/>
              <a:t>Пример работы </a:t>
            </a:r>
            <a:r>
              <a:rPr lang="en-US" dirty="0" smtClean="0"/>
              <a:t>BPE</a:t>
            </a:r>
            <a:endParaRPr lang="ru-RU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C8664-78E5-4C8A-950D-AE5D980E4814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3872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38200" y="1690688"/>
            <a:ext cx="10711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«</a:t>
            </a:r>
            <a:r>
              <a:rPr lang="ru-RU" dirty="0"/>
              <a:t>Судей решительных и строгих</a:t>
            </a:r>
            <a:r>
              <a:rPr lang="ru-RU" dirty="0" smtClean="0"/>
              <a:t>»</a:t>
            </a: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838199" y="2257121"/>
            <a:ext cx="1091583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smtClean="0">
                <a:latin typeface="Consolas" panose="020B0609020204030204" pitchFamily="49" charset="0"/>
              </a:rPr>
              <a:t>d0 a1 d1 83 d0 b4 d0 b5 d0 b9 20 d1 80 d0 b5 d1 88 d0 b8 d1 82 d0 b5 d0 bb d1 8c d0 </a:t>
            </a:r>
            <a:r>
              <a:rPr lang="en-US" sz="1600" dirty="0" err="1" smtClean="0">
                <a:latin typeface="Consolas" panose="020B0609020204030204" pitchFamily="49" charset="0"/>
              </a:rPr>
              <a:t>bd</a:t>
            </a:r>
            <a:r>
              <a:rPr lang="en-US" sz="1600" dirty="0" smtClean="0">
                <a:latin typeface="Consolas" panose="020B0609020204030204" pitchFamily="49" charset="0"/>
              </a:rPr>
              <a:t> d1 8b d1 85 20 d0 b8 20 d1 81 d1 82 d1 80 d0 be d0 b3 d0 b8 d1 85</a:t>
            </a:r>
            <a:endParaRPr lang="ru-RU" sz="1600" dirty="0">
              <a:latin typeface="Consolas" panose="020B0609020204030204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38199" y="3410930"/>
            <a:ext cx="1080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Словарь:</a:t>
            </a:r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2015228" y="3439107"/>
            <a:ext cx="798221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 smtClean="0">
                <a:latin typeface="Consolas" panose="020B0609020204030204" pitchFamily="49" charset="0"/>
              </a:rPr>
              <a:t>00 01 … </a:t>
            </a:r>
            <a:r>
              <a:rPr lang="en-US" sz="1600" dirty="0" err="1" smtClean="0">
                <a:latin typeface="Consolas" panose="020B0609020204030204" pitchFamily="49" charset="0"/>
              </a:rPr>
              <a:t>fe</a:t>
            </a:r>
            <a:r>
              <a:rPr lang="en-US" sz="1600" dirty="0" smtClean="0">
                <a:latin typeface="Consolas" panose="020B0609020204030204" pitchFamily="49" charset="0"/>
              </a:rPr>
              <a:t> </a:t>
            </a:r>
            <a:r>
              <a:rPr lang="en-US" sz="1600" dirty="0" err="1" smtClean="0">
                <a:latin typeface="Consolas" panose="020B0609020204030204" pitchFamily="49" charset="0"/>
              </a:rPr>
              <a:t>ff</a:t>
            </a:r>
            <a:r>
              <a:rPr lang="en-US" sz="1600" dirty="0" smtClean="0">
                <a:latin typeface="Consolas" panose="020B0609020204030204" pitchFamily="49" charset="0"/>
              </a:rPr>
              <a:t> 20d0</a:t>
            </a:r>
            <a:r>
              <a:rPr lang="ru-RU" sz="1600" dirty="0" smtClean="0">
                <a:latin typeface="Consolas" panose="020B0609020204030204" pitchFamily="49" charset="0"/>
              </a:rPr>
              <a:t> </a:t>
            </a:r>
            <a:r>
              <a:rPr lang="de-DE" sz="1600" dirty="0" smtClean="0">
                <a:latin typeface="Consolas" panose="020B0609020204030204" pitchFamily="49" charset="0"/>
              </a:rPr>
              <a:t>20d1</a:t>
            </a:r>
            <a:r>
              <a:rPr lang="ru-RU" sz="1600" dirty="0" smtClean="0">
                <a:latin typeface="Consolas" panose="020B0609020204030204" pitchFamily="49" charset="0"/>
              </a:rPr>
              <a:t> </a:t>
            </a:r>
            <a:r>
              <a:rPr lang="de-DE" sz="1600" dirty="0" smtClean="0">
                <a:latin typeface="Consolas" panose="020B0609020204030204" pitchFamily="49" charset="0"/>
              </a:rPr>
              <a:t>b4d1</a:t>
            </a:r>
            <a:r>
              <a:rPr lang="ru-RU" sz="1600" dirty="0" smtClean="0">
                <a:latin typeface="Consolas" panose="020B0609020204030204" pitchFamily="49" charset="0"/>
              </a:rPr>
              <a:t> </a:t>
            </a:r>
            <a:r>
              <a:rPr lang="de-DE" sz="1600" dirty="0" smtClean="0">
                <a:latin typeface="Consolas" panose="020B0609020204030204" pitchFamily="49" charset="0"/>
              </a:rPr>
              <a:t>d0b0</a:t>
            </a:r>
            <a:r>
              <a:rPr lang="ru-RU" sz="1600" dirty="0" smtClean="0">
                <a:latin typeface="Consolas" panose="020B0609020204030204" pitchFamily="49" charset="0"/>
              </a:rPr>
              <a:t> </a:t>
            </a:r>
            <a:r>
              <a:rPr lang="de-DE" sz="1600" dirty="0" smtClean="0">
                <a:latin typeface="Consolas" panose="020B0609020204030204" pitchFamily="49" charset="0"/>
              </a:rPr>
              <a:t>b4d18f</a:t>
            </a:r>
            <a:r>
              <a:rPr lang="ru-RU" sz="1600" dirty="0" smtClean="0">
                <a:latin typeface="Consolas" panose="020B0609020204030204" pitchFamily="49" charset="0"/>
              </a:rPr>
              <a:t> </a:t>
            </a:r>
            <a:r>
              <a:rPr lang="de-DE" sz="1600" dirty="0" smtClean="0">
                <a:latin typeface="Consolas" panose="020B0609020204030204" pitchFamily="49" charset="0"/>
              </a:rPr>
              <a:t>d0b0d0</a:t>
            </a:r>
            <a:r>
              <a:rPr lang="ru-RU" sz="1600" dirty="0" smtClean="0">
                <a:latin typeface="Consolas" panose="020B0609020204030204" pitchFamily="49" charset="0"/>
              </a:rPr>
              <a:t> </a:t>
            </a:r>
            <a:r>
              <a:rPr lang="de-DE" sz="1600" dirty="0">
                <a:latin typeface="Consolas" panose="020B0609020204030204" pitchFamily="49" charset="0"/>
              </a:rPr>
              <a:t>d18b</a:t>
            </a:r>
            <a:r>
              <a:rPr lang="de-DE" sz="1600" dirty="0" smtClean="0">
                <a:latin typeface="Consolas" panose="020B0609020204030204" pitchFamily="49" charset="0"/>
              </a:rPr>
              <a:t> </a:t>
            </a:r>
            <a:r>
              <a:rPr lang="de-DE" sz="1600" dirty="0">
                <a:latin typeface="Consolas" panose="020B0609020204030204" pitchFamily="49" charset="0"/>
              </a:rPr>
              <a:t>d18bd1 </a:t>
            </a:r>
            <a:r>
              <a:rPr lang="en-US" sz="1600" dirty="0" smtClean="0">
                <a:latin typeface="Consolas" panose="020B0609020204030204" pitchFamily="49" charset="0"/>
              </a:rPr>
              <a:t>(2</a:t>
            </a:r>
            <a:r>
              <a:rPr lang="ru-RU" sz="1600" dirty="0" smtClean="0">
                <a:latin typeface="Consolas" panose="020B0609020204030204" pitchFamily="49" charset="0"/>
              </a:rPr>
              <a:t>64</a:t>
            </a:r>
            <a:r>
              <a:rPr lang="en-US" sz="1600" dirty="0" smtClean="0">
                <a:latin typeface="Consolas" panose="020B0609020204030204" pitchFamily="49" charset="0"/>
              </a:rPr>
              <a:t>)</a:t>
            </a:r>
            <a:endParaRPr lang="ru-RU" sz="1600" dirty="0">
              <a:latin typeface="Consolas" panose="020B0609020204030204" pitchFamily="49" charset="0"/>
            </a:endParaRPr>
          </a:p>
        </p:txBody>
      </p:sp>
      <p:sp>
        <p:nvSpPr>
          <p:cNvPr id="10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dirty="0" smtClean="0"/>
              <a:t>Пример работы </a:t>
            </a:r>
            <a:r>
              <a:rPr lang="en-US" dirty="0" smtClean="0"/>
              <a:t>BPE</a:t>
            </a:r>
            <a:endParaRPr lang="ru-RU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C8664-78E5-4C8A-950D-AE5D980E4814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4828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38200" y="1690688"/>
            <a:ext cx="10711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«</a:t>
            </a:r>
            <a:r>
              <a:rPr lang="ru-RU" dirty="0"/>
              <a:t>Судей решительных и строгих</a:t>
            </a:r>
            <a:r>
              <a:rPr lang="ru-RU" dirty="0" smtClean="0"/>
              <a:t>»</a:t>
            </a: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838199" y="2257121"/>
            <a:ext cx="1091583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smtClean="0">
                <a:latin typeface="Consolas" panose="020B0609020204030204" pitchFamily="49" charset="0"/>
              </a:rPr>
              <a:t>d0 a1 d1 83 d0 b4 d0 b5 d0 b9 </a:t>
            </a:r>
            <a:r>
              <a:rPr lang="en-US" sz="1600" dirty="0" smtClean="0">
                <a:solidFill>
                  <a:srgbClr val="0070C0"/>
                </a:solidFill>
                <a:latin typeface="Consolas" panose="020B0609020204030204" pitchFamily="49" charset="0"/>
              </a:rPr>
              <a:t>20d1</a:t>
            </a:r>
            <a:r>
              <a:rPr lang="en-US" sz="1600" dirty="0" smtClean="0">
                <a:latin typeface="Consolas" panose="020B0609020204030204" pitchFamily="49" charset="0"/>
              </a:rPr>
              <a:t> 80 d0 b5 d1 88 d0 b8 d1 82 d0 b5 d0 bb d1 8c d0 </a:t>
            </a:r>
            <a:r>
              <a:rPr lang="en-US" sz="1600" dirty="0" err="1" smtClean="0">
                <a:latin typeface="Consolas" panose="020B0609020204030204" pitchFamily="49" charset="0"/>
              </a:rPr>
              <a:t>bd</a:t>
            </a:r>
            <a:r>
              <a:rPr lang="en-US" sz="1600" dirty="0" smtClean="0">
                <a:latin typeface="Consolas" panose="020B0609020204030204" pitchFamily="49" charset="0"/>
              </a:rPr>
              <a:t> </a:t>
            </a:r>
            <a:r>
              <a:rPr lang="en-US" sz="1600" dirty="0" smtClean="0">
                <a:solidFill>
                  <a:srgbClr val="0070C0"/>
                </a:solidFill>
                <a:latin typeface="Consolas" panose="020B0609020204030204" pitchFamily="49" charset="0"/>
              </a:rPr>
              <a:t>d18bd1</a:t>
            </a:r>
            <a:r>
              <a:rPr lang="en-US" sz="1600" dirty="0" smtClean="0">
                <a:latin typeface="Consolas" panose="020B0609020204030204" pitchFamily="49" charset="0"/>
              </a:rPr>
              <a:t> 85 20 d0 b8 </a:t>
            </a:r>
            <a:r>
              <a:rPr lang="en-US" sz="1600" dirty="0" smtClean="0">
                <a:solidFill>
                  <a:srgbClr val="0070C0"/>
                </a:solidFill>
                <a:latin typeface="Consolas" panose="020B0609020204030204" pitchFamily="49" charset="0"/>
              </a:rPr>
              <a:t>20d1</a:t>
            </a:r>
            <a:r>
              <a:rPr lang="en-US" sz="1600" dirty="0" smtClean="0">
                <a:latin typeface="Consolas" panose="020B0609020204030204" pitchFamily="49" charset="0"/>
              </a:rPr>
              <a:t> 81 d1 82 d1 80 d0 be d0 b3 d0 b8 d1 85</a:t>
            </a:r>
            <a:endParaRPr lang="ru-RU" sz="1600" dirty="0">
              <a:latin typeface="Consolas" panose="020B0609020204030204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38199" y="3410930"/>
            <a:ext cx="1080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Словарь:</a:t>
            </a:r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2015228" y="3439107"/>
            <a:ext cx="798221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 smtClean="0">
                <a:latin typeface="Consolas" panose="020B0609020204030204" pitchFamily="49" charset="0"/>
              </a:rPr>
              <a:t>00 01 … </a:t>
            </a:r>
            <a:r>
              <a:rPr lang="en-US" sz="1600" dirty="0" err="1" smtClean="0">
                <a:latin typeface="Consolas" panose="020B0609020204030204" pitchFamily="49" charset="0"/>
              </a:rPr>
              <a:t>fe</a:t>
            </a:r>
            <a:r>
              <a:rPr lang="en-US" sz="1600" dirty="0" smtClean="0">
                <a:latin typeface="Consolas" panose="020B0609020204030204" pitchFamily="49" charset="0"/>
              </a:rPr>
              <a:t> </a:t>
            </a:r>
            <a:r>
              <a:rPr lang="en-US" sz="1600" dirty="0" err="1" smtClean="0">
                <a:latin typeface="Consolas" panose="020B0609020204030204" pitchFamily="49" charset="0"/>
              </a:rPr>
              <a:t>ff</a:t>
            </a:r>
            <a:r>
              <a:rPr lang="en-US" sz="1600" dirty="0" smtClean="0">
                <a:latin typeface="Consolas" panose="020B0609020204030204" pitchFamily="49" charset="0"/>
              </a:rPr>
              <a:t> 20d0</a:t>
            </a:r>
            <a:r>
              <a:rPr lang="ru-RU" sz="1600" dirty="0" smtClean="0">
                <a:latin typeface="Consolas" panose="020B0609020204030204" pitchFamily="49" charset="0"/>
              </a:rPr>
              <a:t> </a:t>
            </a:r>
            <a:r>
              <a:rPr lang="de-DE" sz="1600" dirty="0" smtClean="0">
                <a:latin typeface="Consolas" panose="020B0609020204030204" pitchFamily="49" charset="0"/>
              </a:rPr>
              <a:t>20d1</a:t>
            </a:r>
            <a:r>
              <a:rPr lang="ru-RU" sz="1600" dirty="0" smtClean="0">
                <a:latin typeface="Consolas" panose="020B0609020204030204" pitchFamily="49" charset="0"/>
              </a:rPr>
              <a:t> </a:t>
            </a:r>
            <a:r>
              <a:rPr lang="de-DE" sz="1600" dirty="0" smtClean="0">
                <a:latin typeface="Consolas" panose="020B0609020204030204" pitchFamily="49" charset="0"/>
              </a:rPr>
              <a:t>b4d1</a:t>
            </a:r>
            <a:r>
              <a:rPr lang="ru-RU" sz="1600" dirty="0" smtClean="0">
                <a:latin typeface="Consolas" panose="020B0609020204030204" pitchFamily="49" charset="0"/>
              </a:rPr>
              <a:t> </a:t>
            </a:r>
            <a:r>
              <a:rPr lang="de-DE" sz="1600" dirty="0" smtClean="0">
                <a:latin typeface="Consolas" panose="020B0609020204030204" pitchFamily="49" charset="0"/>
              </a:rPr>
              <a:t>d0b0</a:t>
            </a:r>
            <a:r>
              <a:rPr lang="ru-RU" sz="1600" dirty="0" smtClean="0">
                <a:latin typeface="Consolas" panose="020B0609020204030204" pitchFamily="49" charset="0"/>
              </a:rPr>
              <a:t> </a:t>
            </a:r>
            <a:r>
              <a:rPr lang="de-DE" sz="1600" dirty="0" smtClean="0">
                <a:latin typeface="Consolas" panose="020B0609020204030204" pitchFamily="49" charset="0"/>
              </a:rPr>
              <a:t>b4d18f</a:t>
            </a:r>
            <a:r>
              <a:rPr lang="ru-RU" sz="1600" dirty="0" smtClean="0">
                <a:latin typeface="Consolas" panose="020B0609020204030204" pitchFamily="49" charset="0"/>
              </a:rPr>
              <a:t> </a:t>
            </a:r>
            <a:r>
              <a:rPr lang="de-DE" sz="1600" dirty="0" smtClean="0">
                <a:latin typeface="Consolas" panose="020B0609020204030204" pitchFamily="49" charset="0"/>
              </a:rPr>
              <a:t>d0b0d0</a:t>
            </a:r>
            <a:r>
              <a:rPr lang="ru-RU" sz="1600" dirty="0" smtClean="0">
                <a:latin typeface="Consolas" panose="020B0609020204030204" pitchFamily="49" charset="0"/>
              </a:rPr>
              <a:t> </a:t>
            </a:r>
            <a:r>
              <a:rPr lang="de-DE" sz="1600" dirty="0">
                <a:latin typeface="Consolas" panose="020B0609020204030204" pitchFamily="49" charset="0"/>
              </a:rPr>
              <a:t>d18b</a:t>
            </a:r>
            <a:r>
              <a:rPr lang="de-DE" sz="1600" dirty="0" smtClean="0">
                <a:latin typeface="Consolas" panose="020B0609020204030204" pitchFamily="49" charset="0"/>
              </a:rPr>
              <a:t> </a:t>
            </a:r>
            <a:r>
              <a:rPr lang="de-DE" sz="1600" dirty="0">
                <a:latin typeface="Consolas" panose="020B0609020204030204" pitchFamily="49" charset="0"/>
              </a:rPr>
              <a:t>d18bd1 </a:t>
            </a:r>
            <a:r>
              <a:rPr lang="en-US" sz="1600" dirty="0" smtClean="0">
                <a:latin typeface="Consolas" panose="020B0609020204030204" pitchFamily="49" charset="0"/>
              </a:rPr>
              <a:t>(2</a:t>
            </a:r>
            <a:r>
              <a:rPr lang="ru-RU" sz="1600" dirty="0" smtClean="0">
                <a:latin typeface="Consolas" panose="020B0609020204030204" pitchFamily="49" charset="0"/>
              </a:rPr>
              <a:t>64</a:t>
            </a:r>
            <a:r>
              <a:rPr lang="en-US" sz="1600" dirty="0" smtClean="0">
                <a:latin typeface="Consolas" panose="020B0609020204030204" pitchFamily="49" charset="0"/>
              </a:rPr>
              <a:t>)</a:t>
            </a:r>
            <a:endParaRPr lang="ru-RU" sz="1600" dirty="0">
              <a:latin typeface="Consolas" panose="020B0609020204030204" pitchFamily="49" charset="0"/>
            </a:endParaRPr>
          </a:p>
        </p:txBody>
      </p:sp>
      <p:sp>
        <p:nvSpPr>
          <p:cNvPr id="10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dirty="0" smtClean="0"/>
              <a:t>Пример работы </a:t>
            </a:r>
            <a:r>
              <a:rPr lang="en-US" dirty="0" smtClean="0"/>
              <a:t>BPE</a:t>
            </a:r>
            <a:endParaRPr lang="ru-RU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C8664-78E5-4C8A-950D-AE5D980E4814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0832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WordPiece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838200" y="2016426"/>
            <a:ext cx="7960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BERT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3093236"/>
            <a:ext cx="1071164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Алгоритм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(аналогичен BPE, но с другой метрикой):</a:t>
            </a:r>
          </a:p>
          <a:p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Вместо подсчета частоты пары, алгоритм вычисляет, какое объединение максимально увеличит вероятность языковой модели на обучающем корпусе.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Формула оценки: </a:t>
            </a:r>
            <a:r>
              <a:rPr lang="ru-RU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score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 = P(AB) / (P(A) * P(B)). Если A и B часто идут вместе, их объединение будет сильно повышать </a:t>
            </a:r>
            <a:r>
              <a:rPr lang="ru-RU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score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ru-RU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C8664-78E5-4C8A-950D-AE5D980E4814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0338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 работы </a:t>
            </a:r>
            <a:r>
              <a:rPr lang="en-US" dirty="0" err="1" smtClean="0"/>
              <a:t>WordPiece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838200" y="1690688"/>
            <a:ext cx="10711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«Мой дядя самых честных правил»</a:t>
            </a: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838199" y="2257121"/>
            <a:ext cx="1091583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 smtClean="0">
                <a:latin typeface="Consolas" panose="020B0609020204030204" pitchFamily="49" charset="0"/>
              </a:rPr>
              <a:t>М</a:t>
            </a:r>
            <a:r>
              <a:rPr lang="en-US" sz="1600" dirty="0" smtClean="0">
                <a:latin typeface="Consolas" panose="020B0609020204030204" pitchFamily="49" charset="0"/>
              </a:rPr>
              <a:t> ##</a:t>
            </a:r>
            <a:r>
              <a:rPr lang="ru-RU" sz="1600" dirty="0" smtClean="0">
                <a:latin typeface="Consolas" panose="020B0609020204030204" pitchFamily="49" charset="0"/>
              </a:rPr>
              <a:t>о</a:t>
            </a:r>
            <a:r>
              <a:rPr lang="en-US" sz="1600" dirty="0" smtClean="0">
                <a:latin typeface="Consolas" panose="020B0609020204030204" pitchFamily="49" charset="0"/>
              </a:rPr>
              <a:t> ##</a:t>
            </a:r>
            <a:r>
              <a:rPr lang="ru-RU" sz="1600" dirty="0" smtClean="0">
                <a:latin typeface="Consolas" panose="020B0609020204030204" pitchFamily="49" charset="0"/>
              </a:rPr>
              <a:t>й д</a:t>
            </a:r>
            <a:r>
              <a:rPr lang="en-US" sz="1600" dirty="0" smtClean="0">
                <a:latin typeface="Consolas" panose="020B0609020204030204" pitchFamily="49" charset="0"/>
              </a:rPr>
              <a:t> ##</a:t>
            </a:r>
            <a:r>
              <a:rPr lang="ru-RU" sz="1600" dirty="0" smtClean="0">
                <a:latin typeface="Consolas" panose="020B0609020204030204" pitchFamily="49" charset="0"/>
              </a:rPr>
              <a:t>я</a:t>
            </a:r>
            <a:r>
              <a:rPr lang="en-US" sz="1600" dirty="0" smtClean="0">
                <a:latin typeface="Consolas" panose="020B0609020204030204" pitchFamily="49" charset="0"/>
              </a:rPr>
              <a:t> ##</a:t>
            </a:r>
            <a:r>
              <a:rPr lang="ru-RU" sz="1600" dirty="0" smtClean="0">
                <a:latin typeface="Consolas" panose="020B0609020204030204" pitchFamily="49" charset="0"/>
              </a:rPr>
              <a:t>д</a:t>
            </a:r>
            <a:r>
              <a:rPr lang="en-US" sz="1600" dirty="0" smtClean="0">
                <a:latin typeface="Consolas" panose="020B0609020204030204" pitchFamily="49" charset="0"/>
              </a:rPr>
              <a:t> ##</a:t>
            </a:r>
            <a:r>
              <a:rPr lang="ru-RU" sz="1600" dirty="0" smtClean="0">
                <a:latin typeface="Consolas" panose="020B0609020204030204" pitchFamily="49" charset="0"/>
              </a:rPr>
              <a:t>я с</a:t>
            </a:r>
            <a:r>
              <a:rPr lang="en-US" sz="1600" dirty="0" smtClean="0">
                <a:latin typeface="Consolas" panose="020B0609020204030204" pitchFamily="49" charset="0"/>
              </a:rPr>
              <a:t> ##</a:t>
            </a:r>
            <a:r>
              <a:rPr lang="ru-RU" sz="1600" dirty="0" smtClean="0">
                <a:latin typeface="Consolas" panose="020B0609020204030204" pitchFamily="49" charset="0"/>
              </a:rPr>
              <a:t>а</a:t>
            </a:r>
            <a:r>
              <a:rPr lang="en-US" sz="1600" dirty="0" smtClean="0">
                <a:latin typeface="Consolas" panose="020B0609020204030204" pitchFamily="49" charset="0"/>
              </a:rPr>
              <a:t> ##</a:t>
            </a:r>
            <a:r>
              <a:rPr lang="ru-RU" sz="1600" dirty="0" smtClean="0">
                <a:latin typeface="Consolas" panose="020B0609020204030204" pitchFamily="49" charset="0"/>
              </a:rPr>
              <a:t>м</a:t>
            </a:r>
            <a:r>
              <a:rPr lang="en-US" sz="1600" dirty="0" smtClean="0">
                <a:latin typeface="Consolas" panose="020B0609020204030204" pitchFamily="49" charset="0"/>
              </a:rPr>
              <a:t> ##</a:t>
            </a:r>
            <a:r>
              <a:rPr lang="ru-RU" sz="1600" dirty="0" smtClean="0">
                <a:latin typeface="Consolas" panose="020B0609020204030204" pitchFamily="49" charset="0"/>
              </a:rPr>
              <a:t>ы</a:t>
            </a:r>
            <a:r>
              <a:rPr lang="en-US" sz="1600" dirty="0" smtClean="0">
                <a:latin typeface="Consolas" panose="020B0609020204030204" pitchFamily="49" charset="0"/>
              </a:rPr>
              <a:t> ##</a:t>
            </a:r>
            <a:r>
              <a:rPr lang="ru-RU" sz="1600" dirty="0" smtClean="0">
                <a:latin typeface="Consolas" panose="020B0609020204030204" pitchFamily="49" charset="0"/>
              </a:rPr>
              <a:t>х ч</a:t>
            </a:r>
            <a:r>
              <a:rPr lang="en-US" sz="1600" dirty="0" smtClean="0">
                <a:latin typeface="Consolas" panose="020B0609020204030204" pitchFamily="49" charset="0"/>
              </a:rPr>
              <a:t> ##</a:t>
            </a:r>
            <a:r>
              <a:rPr lang="ru-RU" sz="1600" dirty="0" smtClean="0">
                <a:latin typeface="Consolas" panose="020B0609020204030204" pitchFamily="49" charset="0"/>
              </a:rPr>
              <a:t>е</a:t>
            </a:r>
            <a:r>
              <a:rPr lang="en-US" sz="1600" dirty="0" smtClean="0">
                <a:latin typeface="Consolas" panose="020B0609020204030204" pitchFamily="49" charset="0"/>
              </a:rPr>
              <a:t> ##</a:t>
            </a:r>
            <a:r>
              <a:rPr lang="ru-RU" sz="1600" dirty="0" smtClean="0">
                <a:latin typeface="Consolas" panose="020B0609020204030204" pitchFamily="49" charset="0"/>
              </a:rPr>
              <a:t>с</a:t>
            </a:r>
            <a:r>
              <a:rPr lang="en-US" sz="1600" dirty="0" smtClean="0">
                <a:latin typeface="Consolas" panose="020B0609020204030204" pitchFamily="49" charset="0"/>
              </a:rPr>
              <a:t> ##</a:t>
            </a:r>
            <a:r>
              <a:rPr lang="ru-RU" sz="1600" dirty="0" smtClean="0">
                <a:latin typeface="Consolas" panose="020B0609020204030204" pitchFamily="49" charset="0"/>
              </a:rPr>
              <a:t>т</a:t>
            </a:r>
            <a:r>
              <a:rPr lang="en-US" sz="1600" dirty="0" smtClean="0">
                <a:latin typeface="Consolas" panose="020B0609020204030204" pitchFamily="49" charset="0"/>
              </a:rPr>
              <a:t> ##</a:t>
            </a:r>
            <a:r>
              <a:rPr lang="ru-RU" sz="1600" dirty="0" smtClean="0">
                <a:latin typeface="Consolas" panose="020B0609020204030204" pitchFamily="49" charset="0"/>
              </a:rPr>
              <a:t>н</a:t>
            </a:r>
            <a:r>
              <a:rPr lang="en-US" sz="1600" dirty="0" smtClean="0">
                <a:latin typeface="Consolas" panose="020B0609020204030204" pitchFamily="49" charset="0"/>
              </a:rPr>
              <a:t> ##</a:t>
            </a:r>
            <a:r>
              <a:rPr lang="ru-RU" sz="1600" dirty="0" smtClean="0">
                <a:latin typeface="Consolas" panose="020B0609020204030204" pitchFamily="49" charset="0"/>
              </a:rPr>
              <a:t>ы</a:t>
            </a:r>
            <a:r>
              <a:rPr lang="en-US" sz="1600" dirty="0" smtClean="0">
                <a:latin typeface="Consolas" panose="020B0609020204030204" pitchFamily="49" charset="0"/>
              </a:rPr>
              <a:t> ##</a:t>
            </a:r>
            <a:r>
              <a:rPr lang="ru-RU" sz="1600" dirty="0" smtClean="0">
                <a:latin typeface="Consolas" panose="020B0609020204030204" pitchFamily="49" charset="0"/>
              </a:rPr>
              <a:t>х п</a:t>
            </a:r>
            <a:r>
              <a:rPr lang="en-US" sz="1600" dirty="0" smtClean="0">
                <a:latin typeface="Consolas" panose="020B0609020204030204" pitchFamily="49" charset="0"/>
              </a:rPr>
              <a:t> ##</a:t>
            </a:r>
            <a:r>
              <a:rPr lang="ru-RU" sz="1600" dirty="0" smtClean="0">
                <a:latin typeface="Consolas" panose="020B0609020204030204" pitchFamily="49" charset="0"/>
              </a:rPr>
              <a:t>р</a:t>
            </a:r>
            <a:r>
              <a:rPr lang="en-US" sz="1600" dirty="0" smtClean="0">
                <a:latin typeface="Consolas" panose="020B0609020204030204" pitchFamily="49" charset="0"/>
              </a:rPr>
              <a:t> ##</a:t>
            </a:r>
            <a:r>
              <a:rPr lang="ru-RU" sz="1600" dirty="0" smtClean="0">
                <a:latin typeface="Consolas" panose="020B0609020204030204" pitchFamily="49" charset="0"/>
              </a:rPr>
              <a:t>а</a:t>
            </a:r>
            <a:r>
              <a:rPr lang="en-US" sz="1600" dirty="0" smtClean="0">
                <a:latin typeface="Consolas" panose="020B0609020204030204" pitchFamily="49" charset="0"/>
              </a:rPr>
              <a:t> ##</a:t>
            </a:r>
            <a:r>
              <a:rPr lang="ru-RU" sz="1600" dirty="0" smtClean="0">
                <a:latin typeface="Consolas" panose="020B0609020204030204" pitchFamily="49" charset="0"/>
              </a:rPr>
              <a:t>в</a:t>
            </a:r>
            <a:r>
              <a:rPr lang="en-US" sz="1600" dirty="0" smtClean="0">
                <a:latin typeface="Consolas" panose="020B0609020204030204" pitchFamily="49" charset="0"/>
              </a:rPr>
              <a:t> ##</a:t>
            </a:r>
            <a:r>
              <a:rPr lang="ru-RU" sz="1600" dirty="0" smtClean="0">
                <a:latin typeface="Consolas" panose="020B0609020204030204" pitchFamily="49" charset="0"/>
              </a:rPr>
              <a:t>и</a:t>
            </a:r>
            <a:r>
              <a:rPr lang="en-US" sz="1600" dirty="0" smtClean="0">
                <a:latin typeface="Consolas" panose="020B0609020204030204" pitchFamily="49" charset="0"/>
              </a:rPr>
              <a:t> ##</a:t>
            </a:r>
            <a:r>
              <a:rPr lang="ru-RU" sz="1600" dirty="0" smtClean="0">
                <a:latin typeface="Consolas" panose="020B0609020204030204" pitchFamily="49" charset="0"/>
              </a:rPr>
              <a:t>л</a:t>
            </a:r>
            <a:endParaRPr lang="ru-RU" sz="1600" dirty="0">
              <a:latin typeface="Consolas" panose="020B0609020204030204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38199" y="3408329"/>
            <a:ext cx="1080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Словарь:</a:t>
            </a:r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2015229" y="3439107"/>
            <a:ext cx="899240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 smtClean="0">
                <a:latin typeface="Consolas" panose="020B0609020204030204" pitchFamily="49" charset="0"/>
              </a:rPr>
              <a:t>М</a:t>
            </a:r>
            <a:r>
              <a:rPr lang="en-US" sz="1600" dirty="0" smtClean="0">
                <a:latin typeface="Consolas" panose="020B0609020204030204" pitchFamily="49" charset="0"/>
              </a:rPr>
              <a:t> ##</a:t>
            </a:r>
            <a:r>
              <a:rPr lang="ru-RU" sz="1600" dirty="0" smtClean="0">
                <a:latin typeface="Consolas" panose="020B0609020204030204" pitchFamily="49" charset="0"/>
              </a:rPr>
              <a:t>о</a:t>
            </a:r>
            <a:r>
              <a:rPr lang="en-US" sz="1600" dirty="0" smtClean="0">
                <a:latin typeface="Consolas" panose="020B0609020204030204" pitchFamily="49" charset="0"/>
              </a:rPr>
              <a:t> ##</a:t>
            </a:r>
            <a:r>
              <a:rPr lang="ru-RU" sz="1600" dirty="0" smtClean="0">
                <a:latin typeface="Consolas" panose="020B0609020204030204" pitchFamily="49" charset="0"/>
              </a:rPr>
              <a:t>й д</a:t>
            </a:r>
            <a:r>
              <a:rPr lang="en-US" sz="1600" dirty="0" smtClean="0">
                <a:latin typeface="Consolas" panose="020B0609020204030204" pitchFamily="49" charset="0"/>
              </a:rPr>
              <a:t> ##</a:t>
            </a:r>
            <a:r>
              <a:rPr lang="ru-RU" sz="1600" dirty="0" smtClean="0">
                <a:latin typeface="Consolas" panose="020B0609020204030204" pitchFamily="49" charset="0"/>
              </a:rPr>
              <a:t>я</a:t>
            </a:r>
            <a:r>
              <a:rPr lang="en-US" sz="1600" dirty="0" smtClean="0">
                <a:latin typeface="Consolas" panose="020B0609020204030204" pitchFamily="49" charset="0"/>
              </a:rPr>
              <a:t> ##</a:t>
            </a:r>
            <a:r>
              <a:rPr lang="ru-RU" sz="1600" dirty="0" smtClean="0">
                <a:latin typeface="Consolas" panose="020B0609020204030204" pitchFamily="49" charset="0"/>
              </a:rPr>
              <a:t>д</a:t>
            </a:r>
            <a:r>
              <a:rPr lang="en-US" sz="1600" dirty="0" smtClean="0">
                <a:latin typeface="Consolas" panose="020B0609020204030204" pitchFamily="49" charset="0"/>
              </a:rPr>
              <a:t> </a:t>
            </a:r>
            <a:r>
              <a:rPr lang="ru-RU" sz="1600" dirty="0" smtClean="0">
                <a:latin typeface="Consolas" panose="020B0609020204030204" pitchFamily="49" charset="0"/>
              </a:rPr>
              <a:t>с</a:t>
            </a:r>
            <a:r>
              <a:rPr lang="en-US" sz="1600" dirty="0" smtClean="0">
                <a:latin typeface="Consolas" panose="020B0609020204030204" pitchFamily="49" charset="0"/>
              </a:rPr>
              <a:t> ##</a:t>
            </a:r>
            <a:r>
              <a:rPr lang="ru-RU" sz="1600" dirty="0" smtClean="0">
                <a:latin typeface="Consolas" panose="020B0609020204030204" pitchFamily="49" charset="0"/>
              </a:rPr>
              <a:t>а</a:t>
            </a:r>
            <a:r>
              <a:rPr lang="en-US" sz="1600" dirty="0" smtClean="0">
                <a:latin typeface="Consolas" panose="020B0609020204030204" pitchFamily="49" charset="0"/>
              </a:rPr>
              <a:t> ##</a:t>
            </a:r>
            <a:r>
              <a:rPr lang="ru-RU" sz="1600" dirty="0" smtClean="0">
                <a:latin typeface="Consolas" panose="020B0609020204030204" pitchFamily="49" charset="0"/>
              </a:rPr>
              <a:t>м</a:t>
            </a:r>
            <a:r>
              <a:rPr lang="en-US" sz="1600" dirty="0" smtClean="0">
                <a:latin typeface="Consolas" panose="020B0609020204030204" pitchFamily="49" charset="0"/>
              </a:rPr>
              <a:t> ##</a:t>
            </a:r>
            <a:r>
              <a:rPr lang="ru-RU" sz="1600" dirty="0" smtClean="0">
                <a:latin typeface="Consolas" panose="020B0609020204030204" pitchFamily="49" charset="0"/>
              </a:rPr>
              <a:t>ы</a:t>
            </a:r>
            <a:r>
              <a:rPr lang="en-US" sz="1600" dirty="0" smtClean="0">
                <a:latin typeface="Consolas" panose="020B0609020204030204" pitchFamily="49" charset="0"/>
              </a:rPr>
              <a:t> ##</a:t>
            </a:r>
            <a:r>
              <a:rPr lang="ru-RU" sz="1600" dirty="0" smtClean="0">
                <a:latin typeface="Consolas" panose="020B0609020204030204" pitchFamily="49" charset="0"/>
              </a:rPr>
              <a:t>х ч</a:t>
            </a:r>
            <a:r>
              <a:rPr lang="en-US" sz="1600" dirty="0" smtClean="0">
                <a:latin typeface="Consolas" panose="020B0609020204030204" pitchFamily="49" charset="0"/>
              </a:rPr>
              <a:t> ##</a:t>
            </a:r>
            <a:r>
              <a:rPr lang="ru-RU" sz="1600" dirty="0" smtClean="0">
                <a:latin typeface="Consolas" panose="020B0609020204030204" pitchFamily="49" charset="0"/>
              </a:rPr>
              <a:t>е</a:t>
            </a:r>
            <a:r>
              <a:rPr lang="en-US" sz="1600" dirty="0" smtClean="0">
                <a:latin typeface="Consolas" panose="020B0609020204030204" pitchFamily="49" charset="0"/>
              </a:rPr>
              <a:t> ##</a:t>
            </a:r>
            <a:r>
              <a:rPr lang="ru-RU" sz="1600" dirty="0" smtClean="0">
                <a:latin typeface="Consolas" panose="020B0609020204030204" pitchFamily="49" charset="0"/>
              </a:rPr>
              <a:t>с</a:t>
            </a:r>
            <a:r>
              <a:rPr lang="en-US" sz="1600" dirty="0" smtClean="0">
                <a:latin typeface="Consolas" panose="020B0609020204030204" pitchFamily="49" charset="0"/>
              </a:rPr>
              <a:t> ##</a:t>
            </a:r>
            <a:r>
              <a:rPr lang="ru-RU" sz="1600" dirty="0" smtClean="0">
                <a:latin typeface="Consolas" panose="020B0609020204030204" pitchFamily="49" charset="0"/>
              </a:rPr>
              <a:t>т</a:t>
            </a:r>
            <a:r>
              <a:rPr lang="en-US" sz="1600" dirty="0" smtClean="0">
                <a:latin typeface="Consolas" panose="020B0609020204030204" pitchFamily="49" charset="0"/>
              </a:rPr>
              <a:t> ##</a:t>
            </a:r>
            <a:r>
              <a:rPr lang="ru-RU" sz="1600" dirty="0" smtClean="0">
                <a:latin typeface="Consolas" panose="020B0609020204030204" pitchFamily="49" charset="0"/>
              </a:rPr>
              <a:t>н</a:t>
            </a:r>
            <a:r>
              <a:rPr lang="ru-RU" sz="1600" dirty="0">
                <a:latin typeface="Consolas" panose="020B0609020204030204" pitchFamily="49" charset="0"/>
              </a:rPr>
              <a:t> </a:t>
            </a:r>
            <a:r>
              <a:rPr lang="ru-RU" sz="1600" dirty="0" smtClean="0">
                <a:latin typeface="Consolas" panose="020B0609020204030204" pitchFamily="49" charset="0"/>
              </a:rPr>
              <a:t>п</a:t>
            </a:r>
            <a:r>
              <a:rPr lang="en-US" sz="1600" dirty="0" smtClean="0">
                <a:latin typeface="Consolas" panose="020B0609020204030204" pitchFamily="49" charset="0"/>
              </a:rPr>
              <a:t> ##</a:t>
            </a:r>
            <a:r>
              <a:rPr lang="ru-RU" sz="1600" dirty="0" smtClean="0">
                <a:latin typeface="Consolas" panose="020B0609020204030204" pitchFamily="49" charset="0"/>
              </a:rPr>
              <a:t>р</a:t>
            </a:r>
            <a:r>
              <a:rPr lang="en-US" sz="1600" dirty="0" smtClean="0">
                <a:latin typeface="Consolas" panose="020B0609020204030204" pitchFamily="49" charset="0"/>
              </a:rPr>
              <a:t> ##</a:t>
            </a:r>
            <a:r>
              <a:rPr lang="ru-RU" sz="1600" dirty="0" smtClean="0">
                <a:latin typeface="Consolas" panose="020B0609020204030204" pitchFamily="49" charset="0"/>
              </a:rPr>
              <a:t>в</a:t>
            </a:r>
            <a:r>
              <a:rPr lang="en-US" sz="1600" dirty="0" smtClean="0">
                <a:latin typeface="Consolas" panose="020B0609020204030204" pitchFamily="49" charset="0"/>
              </a:rPr>
              <a:t> ##</a:t>
            </a:r>
            <a:r>
              <a:rPr lang="ru-RU" sz="1600" dirty="0" smtClean="0">
                <a:latin typeface="Consolas" panose="020B0609020204030204" pitchFamily="49" charset="0"/>
              </a:rPr>
              <a:t>и</a:t>
            </a:r>
            <a:r>
              <a:rPr lang="en-US" sz="1600" dirty="0" smtClean="0">
                <a:latin typeface="Consolas" panose="020B0609020204030204" pitchFamily="49" charset="0"/>
              </a:rPr>
              <a:t> ##</a:t>
            </a:r>
            <a:r>
              <a:rPr lang="ru-RU" sz="1600" dirty="0" smtClean="0">
                <a:latin typeface="Consolas" panose="020B0609020204030204" pitchFamily="49" charset="0"/>
              </a:rPr>
              <a:t>л</a:t>
            </a:r>
          </a:p>
          <a:p>
            <a:r>
              <a:rPr lang="en-US" sz="1600" dirty="0" smtClean="0">
                <a:latin typeface="Consolas" panose="020B0609020204030204" pitchFamily="49" charset="0"/>
              </a:rPr>
              <a:t>(2</a:t>
            </a:r>
            <a:r>
              <a:rPr lang="ru-RU" sz="1600" dirty="0" smtClean="0">
                <a:latin typeface="Consolas" panose="020B0609020204030204" pitchFamily="49" charset="0"/>
              </a:rPr>
              <a:t>1</a:t>
            </a:r>
            <a:r>
              <a:rPr lang="en-US" sz="1600" dirty="0" smtClean="0">
                <a:latin typeface="Consolas" panose="020B0609020204030204" pitchFamily="49" charset="0"/>
              </a:rPr>
              <a:t>)</a:t>
            </a:r>
            <a:endParaRPr lang="ru-RU" sz="1600" dirty="0">
              <a:latin typeface="Consolas" panose="020B0609020204030204" pitchFamily="49" charset="0"/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C8664-78E5-4C8A-950D-AE5D980E4814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832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 работы </a:t>
            </a:r>
            <a:r>
              <a:rPr lang="en-US" dirty="0" err="1" smtClean="0"/>
              <a:t>WordPiece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838200" y="1690688"/>
            <a:ext cx="10711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«Мой дядя самых честных правил»</a:t>
            </a: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838199" y="2257121"/>
            <a:ext cx="1091583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 smtClean="0">
                <a:latin typeface="Consolas" panose="020B0609020204030204" pitchFamily="49" charset="0"/>
              </a:rPr>
              <a:t>М</a:t>
            </a:r>
            <a:r>
              <a:rPr lang="en-US" sz="1600" dirty="0" smtClean="0">
                <a:latin typeface="Consolas" panose="020B0609020204030204" pitchFamily="49" charset="0"/>
              </a:rPr>
              <a:t> ##</a:t>
            </a:r>
            <a:r>
              <a:rPr lang="ru-RU" sz="1600" dirty="0" smtClean="0">
                <a:latin typeface="Consolas" panose="020B0609020204030204" pitchFamily="49" charset="0"/>
              </a:rPr>
              <a:t>о</a:t>
            </a:r>
            <a:r>
              <a:rPr lang="en-US" sz="1600" dirty="0" smtClean="0">
                <a:latin typeface="Consolas" panose="020B0609020204030204" pitchFamily="49" charset="0"/>
              </a:rPr>
              <a:t> ##</a:t>
            </a:r>
            <a:r>
              <a:rPr lang="ru-RU" sz="1600" dirty="0" smtClean="0">
                <a:latin typeface="Consolas" panose="020B0609020204030204" pitchFamily="49" charset="0"/>
              </a:rPr>
              <a:t>й д</a:t>
            </a:r>
            <a:r>
              <a:rPr lang="en-US" sz="1600" dirty="0" smtClean="0">
                <a:latin typeface="Consolas" panose="020B0609020204030204" pitchFamily="49" charset="0"/>
              </a:rPr>
              <a:t> ##</a:t>
            </a:r>
            <a:r>
              <a:rPr lang="ru-RU" sz="1600" dirty="0" smtClean="0">
                <a:latin typeface="Consolas" panose="020B0609020204030204" pitchFamily="49" charset="0"/>
              </a:rPr>
              <a:t>я</a:t>
            </a:r>
            <a:r>
              <a:rPr lang="en-US" sz="1600" dirty="0" smtClean="0">
                <a:latin typeface="Consolas" panose="020B0609020204030204" pitchFamily="49" charset="0"/>
              </a:rPr>
              <a:t> ##</a:t>
            </a:r>
            <a:r>
              <a:rPr lang="ru-RU" sz="1600" dirty="0" smtClean="0">
                <a:latin typeface="Consolas" panose="020B0609020204030204" pitchFamily="49" charset="0"/>
              </a:rPr>
              <a:t>д</a:t>
            </a:r>
            <a:r>
              <a:rPr lang="en-US" sz="1600" dirty="0" smtClean="0">
                <a:latin typeface="Consolas" panose="020B0609020204030204" pitchFamily="49" charset="0"/>
              </a:rPr>
              <a:t> ##</a:t>
            </a:r>
            <a:r>
              <a:rPr lang="ru-RU" sz="1600" dirty="0" smtClean="0">
                <a:latin typeface="Consolas" panose="020B0609020204030204" pitchFamily="49" charset="0"/>
              </a:rPr>
              <a:t>я с</a:t>
            </a:r>
            <a:r>
              <a:rPr lang="en-US" sz="1600" dirty="0" smtClean="0">
                <a:latin typeface="Consolas" panose="020B0609020204030204" pitchFamily="49" charset="0"/>
              </a:rPr>
              <a:t> ##</a:t>
            </a:r>
            <a:r>
              <a:rPr lang="ru-RU" sz="1600" dirty="0" smtClean="0">
                <a:latin typeface="Consolas" panose="020B0609020204030204" pitchFamily="49" charset="0"/>
              </a:rPr>
              <a:t>а</a:t>
            </a:r>
            <a:r>
              <a:rPr lang="en-US" sz="1600" dirty="0" smtClean="0">
                <a:latin typeface="Consolas" panose="020B0609020204030204" pitchFamily="49" charset="0"/>
              </a:rPr>
              <a:t> ##</a:t>
            </a:r>
            <a:r>
              <a:rPr lang="ru-RU" sz="1600" dirty="0" smtClean="0">
                <a:latin typeface="Consolas" panose="020B0609020204030204" pitchFamily="49" charset="0"/>
              </a:rPr>
              <a:t>м</a:t>
            </a:r>
            <a:r>
              <a:rPr lang="en-US" sz="1600" dirty="0" smtClean="0">
                <a:latin typeface="Consolas" panose="020B0609020204030204" pitchFamily="49" charset="0"/>
              </a:rPr>
              <a:t> ##</a:t>
            </a:r>
            <a:r>
              <a:rPr lang="ru-RU" sz="1600" dirty="0" smtClean="0">
                <a:latin typeface="Consolas" panose="020B0609020204030204" pitchFamily="49" charset="0"/>
              </a:rPr>
              <a:t>ы</a:t>
            </a:r>
            <a:r>
              <a:rPr lang="en-US" sz="1600" dirty="0" smtClean="0">
                <a:latin typeface="Consolas" panose="020B0609020204030204" pitchFamily="49" charset="0"/>
              </a:rPr>
              <a:t> ##</a:t>
            </a:r>
            <a:r>
              <a:rPr lang="ru-RU" sz="1600" dirty="0" smtClean="0">
                <a:latin typeface="Consolas" panose="020B0609020204030204" pitchFamily="49" charset="0"/>
              </a:rPr>
              <a:t>х ч</a:t>
            </a:r>
            <a:r>
              <a:rPr lang="en-US" sz="1600" dirty="0" smtClean="0">
                <a:latin typeface="Consolas" panose="020B0609020204030204" pitchFamily="49" charset="0"/>
              </a:rPr>
              <a:t> ##</a:t>
            </a:r>
            <a:r>
              <a:rPr lang="ru-RU" sz="1600" dirty="0" smtClean="0">
                <a:latin typeface="Consolas" panose="020B0609020204030204" pitchFamily="49" charset="0"/>
              </a:rPr>
              <a:t>е</a:t>
            </a:r>
            <a:r>
              <a:rPr lang="en-US" sz="1600" dirty="0" smtClean="0">
                <a:latin typeface="Consolas" panose="020B0609020204030204" pitchFamily="49" charset="0"/>
              </a:rPr>
              <a:t> ##</a:t>
            </a:r>
            <a:r>
              <a:rPr lang="ru-RU" sz="1600" dirty="0" smtClean="0">
                <a:latin typeface="Consolas" panose="020B0609020204030204" pitchFamily="49" charset="0"/>
              </a:rPr>
              <a:t>с</a:t>
            </a:r>
            <a:r>
              <a:rPr lang="en-US" sz="1600" dirty="0" smtClean="0">
                <a:latin typeface="Consolas" panose="020B0609020204030204" pitchFamily="49" charset="0"/>
              </a:rPr>
              <a:t> ##</a:t>
            </a:r>
            <a:r>
              <a:rPr lang="ru-RU" sz="1600" dirty="0" smtClean="0">
                <a:latin typeface="Consolas" panose="020B0609020204030204" pitchFamily="49" charset="0"/>
              </a:rPr>
              <a:t>т</a:t>
            </a:r>
            <a:r>
              <a:rPr lang="en-US" sz="1600" dirty="0" smtClean="0">
                <a:latin typeface="Consolas" panose="020B0609020204030204" pitchFamily="49" charset="0"/>
              </a:rPr>
              <a:t> ##</a:t>
            </a:r>
            <a:r>
              <a:rPr lang="ru-RU" sz="1600" dirty="0" smtClean="0">
                <a:latin typeface="Consolas" panose="020B0609020204030204" pitchFamily="49" charset="0"/>
              </a:rPr>
              <a:t>н</a:t>
            </a:r>
            <a:r>
              <a:rPr lang="en-US" sz="1600" dirty="0" smtClean="0">
                <a:latin typeface="Consolas" panose="020B0609020204030204" pitchFamily="49" charset="0"/>
              </a:rPr>
              <a:t> ##</a:t>
            </a:r>
            <a:r>
              <a:rPr lang="ru-RU" sz="1600" dirty="0" smtClean="0">
                <a:latin typeface="Consolas" panose="020B0609020204030204" pitchFamily="49" charset="0"/>
              </a:rPr>
              <a:t>ы</a:t>
            </a:r>
            <a:r>
              <a:rPr lang="en-US" sz="1600" dirty="0" smtClean="0">
                <a:latin typeface="Consolas" panose="020B0609020204030204" pitchFamily="49" charset="0"/>
              </a:rPr>
              <a:t> ##</a:t>
            </a:r>
            <a:r>
              <a:rPr lang="ru-RU" sz="1600" dirty="0" smtClean="0">
                <a:latin typeface="Consolas" panose="020B0609020204030204" pitchFamily="49" charset="0"/>
              </a:rPr>
              <a:t>х п</a:t>
            </a:r>
            <a:r>
              <a:rPr lang="en-US" sz="1600" dirty="0" smtClean="0">
                <a:latin typeface="Consolas" panose="020B0609020204030204" pitchFamily="49" charset="0"/>
              </a:rPr>
              <a:t> ##</a:t>
            </a:r>
            <a:r>
              <a:rPr lang="ru-RU" sz="1600" dirty="0" smtClean="0">
                <a:latin typeface="Consolas" panose="020B0609020204030204" pitchFamily="49" charset="0"/>
              </a:rPr>
              <a:t>р</a:t>
            </a:r>
            <a:r>
              <a:rPr lang="en-US" sz="1600" dirty="0" smtClean="0">
                <a:latin typeface="Consolas" panose="020B0609020204030204" pitchFamily="49" charset="0"/>
              </a:rPr>
              <a:t> ##</a:t>
            </a:r>
            <a:r>
              <a:rPr lang="ru-RU" sz="1600" dirty="0" smtClean="0">
                <a:latin typeface="Consolas" panose="020B0609020204030204" pitchFamily="49" charset="0"/>
              </a:rPr>
              <a:t>а</a:t>
            </a:r>
            <a:r>
              <a:rPr lang="en-US" sz="1600" dirty="0" smtClean="0">
                <a:latin typeface="Consolas" panose="020B0609020204030204" pitchFamily="49" charset="0"/>
              </a:rPr>
              <a:t> ##</a:t>
            </a:r>
            <a:r>
              <a:rPr lang="ru-RU" sz="1600" dirty="0" smtClean="0">
                <a:latin typeface="Consolas" panose="020B0609020204030204" pitchFamily="49" charset="0"/>
              </a:rPr>
              <a:t>в</a:t>
            </a:r>
            <a:r>
              <a:rPr lang="en-US" sz="1600" dirty="0" smtClean="0">
                <a:latin typeface="Consolas" panose="020B0609020204030204" pitchFamily="49" charset="0"/>
              </a:rPr>
              <a:t> ##</a:t>
            </a:r>
            <a:r>
              <a:rPr lang="ru-RU" sz="1600" dirty="0" smtClean="0">
                <a:latin typeface="Consolas" panose="020B0609020204030204" pitchFamily="49" charset="0"/>
              </a:rPr>
              <a:t>и</a:t>
            </a:r>
            <a:r>
              <a:rPr lang="en-US" sz="1600" dirty="0" smtClean="0">
                <a:latin typeface="Consolas" panose="020B0609020204030204" pitchFamily="49" charset="0"/>
              </a:rPr>
              <a:t> ##</a:t>
            </a:r>
            <a:r>
              <a:rPr lang="ru-RU" sz="1600" dirty="0" smtClean="0">
                <a:latin typeface="Consolas" panose="020B0609020204030204" pitchFamily="49" charset="0"/>
              </a:rPr>
              <a:t>л</a:t>
            </a:r>
            <a:endParaRPr lang="ru-RU" sz="1600" dirty="0">
              <a:latin typeface="Consolas" panose="020B0609020204030204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38199" y="3408329"/>
            <a:ext cx="1080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Словарь:</a:t>
            </a:r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2015229" y="3439107"/>
            <a:ext cx="89924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 smtClean="0">
                <a:latin typeface="Consolas" panose="020B0609020204030204" pitchFamily="49" charset="0"/>
              </a:rPr>
              <a:t>М</a:t>
            </a:r>
            <a:r>
              <a:rPr lang="en-US" sz="1600" dirty="0" smtClean="0">
                <a:latin typeface="Consolas" panose="020B0609020204030204" pitchFamily="49" charset="0"/>
              </a:rPr>
              <a:t> ##</a:t>
            </a:r>
            <a:r>
              <a:rPr lang="ru-RU" sz="1600" dirty="0" smtClean="0">
                <a:latin typeface="Consolas" panose="020B0609020204030204" pitchFamily="49" charset="0"/>
              </a:rPr>
              <a:t>о</a:t>
            </a:r>
            <a:r>
              <a:rPr lang="en-US" sz="1600" dirty="0" smtClean="0">
                <a:latin typeface="Consolas" panose="020B0609020204030204" pitchFamily="49" charset="0"/>
              </a:rPr>
              <a:t> ##</a:t>
            </a:r>
            <a:r>
              <a:rPr lang="ru-RU" sz="1600" dirty="0" smtClean="0">
                <a:latin typeface="Consolas" panose="020B0609020204030204" pitchFamily="49" charset="0"/>
              </a:rPr>
              <a:t>й д</a:t>
            </a:r>
            <a:r>
              <a:rPr lang="en-US" sz="1600" dirty="0" smtClean="0">
                <a:latin typeface="Consolas" panose="020B0609020204030204" pitchFamily="49" charset="0"/>
              </a:rPr>
              <a:t> ##</a:t>
            </a:r>
            <a:r>
              <a:rPr lang="ru-RU" sz="1600" dirty="0" smtClean="0">
                <a:latin typeface="Consolas" panose="020B0609020204030204" pitchFamily="49" charset="0"/>
              </a:rPr>
              <a:t>я</a:t>
            </a:r>
            <a:r>
              <a:rPr lang="en-US" sz="1600" dirty="0" smtClean="0">
                <a:latin typeface="Consolas" panose="020B0609020204030204" pitchFamily="49" charset="0"/>
              </a:rPr>
              <a:t> ##</a:t>
            </a:r>
            <a:r>
              <a:rPr lang="ru-RU" sz="1600" dirty="0" smtClean="0">
                <a:latin typeface="Consolas" panose="020B0609020204030204" pitchFamily="49" charset="0"/>
              </a:rPr>
              <a:t>д</a:t>
            </a:r>
            <a:r>
              <a:rPr lang="en-US" sz="1600" dirty="0" smtClean="0">
                <a:latin typeface="Consolas" panose="020B0609020204030204" pitchFamily="49" charset="0"/>
              </a:rPr>
              <a:t> </a:t>
            </a:r>
            <a:r>
              <a:rPr lang="ru-RU" sz="1600" dirty="0" smtClean="0">
                <a:latin typeface="Consolas" panose="020B0609020204030204" pitchFamily="49" charset="0"/>
              </a:rPr>
              <a:t>с</a:t>
            </a:r>
            <a:r>
              <a:rPr lang="en-US" sz="1600" dirty="0" smtClean="0">
                <a:latin typeface="Consolas" panose="020B0609020204030204" pitchFamily="49" charset="0"/>
              </a:rPr>
              <a:t> ##</a:t>
            </a:r>
            <a:r>
              <a:rPr lang="ru-RU" sz="1600" dirty="0" smtClean="0">
                <a:latin typeface="Consolas" panose="020B0609020204030204" pitchFamily="49" charset="0"/>
              </a:rPr>
              <a:t>а</a:t>
            </a:r>
            <a:r>
              <a:rPr lang="en-US" sz="1600" dirty="0" smtClean="0">
                <a:latin typeface="Consolas" panose="020B0609020204030204" pitchFamily="49" charset="0"/>
              </a:rPr>
              <a:t> ##</a:t>
            </a:r>
            <a:r>
              <a:rPr lang="ru-RU" sz="1600" dirty="0" smtClean="0">
                <a:latin typeface="Consolas" panose="020B0609020204030204" pitchFamily="49" charset="0"/>
              </a:rPr>
              <a:t>м</a:t>
            </a:r>
            <a:r>
              <a:rPr lang="en-US" sz="1600" dirty="0" smtClean="0">
                <a:latin typeface="Consolas" panose="020B0609020204030204" pitchFamily="49" charset="0"/>
              </a:rPr>
              <a:t> ##</a:t>
            </a:r>
            <a:r>
              <a:rPr lang="ru-RU" sz="1600" dirty="0" smtClean="0">
                <a:latin typeface="Consolas" panose="020B0609020204030204" pitchFamily="49" charset="0"/>
              </a:rPr>
              <a:t>ы</a:t>
            </a:r>
            <a:r>
              <a:rPr lang="en-US" sz="1600" dirty="0" smtClean="0">
                <a:latin typeface="Consolas" panose="020B0609020204030204" pitchFamily="49" charset="0"/>
              </a:rPr>
              <a:t> ##</a:t>
            </a:r>
            <a:r>
              <a:rPr lang="ru-RU" sz="1600" dirty="0" smtClean="0">
                <a:latin typeface="Consolas" panose="020B0609020204030204" pitchFamily="49" charset="0"/>
              </a:rPr>
              <a:t>х ч</a:t>
            </a:r>
            <a:r>
              <a:rPr lang="en-US" sz="1600" dirty="0" smtClean="0">
                <a:latin typeface="Consolas" panose="020B0609020204030204" pitchFamily="49" charset="0"/>
              </a:rPr>
              <a:t> ##</a:t>
            </a:r>
            <a:r>
              <a:rPr lang="ru-RU" sz="1600" dirty="0" smtClean="0">
                <a:latin typeface="Consolas" panose="020B0609020204030204" pitchFamily="49" charset="0"/>
              </a:rPr>
              <a:t>е</a:t>
            </a:r>
            <a:r>
              <a:rPr lang="en-US" sz="1600" dirty="0" smtClean="0">
                <a:latin typeface="Consolas" panose="020B0609020204030204" pitchFamily="49" charset="0"/>
              </a:rPr>
              <a:t> ##</a:t>
            </a:r>
            <a:r>
              <a:rPr lang="ru-RU" sz="1600" dirty="0" smtClean="0">
                <a:latin typeface="Consolas" panose="020B0609020204030204" pitchFamily="49" charset="0"/>
              </a:rPr>
              <a:t>с</a:t>
            </a:r>
            <a:r>
              <a:rPr lang="en-US" sz="1600" dirty="0" smtClean="0">
                <a:latin typeface="Consolas" panose="020B0609020204030204" pitchFamily="49" charset="0"/>
              </a:rPr>
              <a:t> ##</a:t>
            </a:r>
            <a:r>
              <a:rPr lang="ru-RU" sz="1600" dirty="0" smtClean="0">
                <a:latin typeface="Consolas" panose="020B0609020204030204" pitchFamily="49" charset="0"/>
              </a:rPr>
              <a:t>т</a:t>
            </a:r>
            <a:r>
              <a:rPr lang="en-US" sz="1600" dirty="0" smtClean="0">
                <a:latin typeface="Consolas" panose="020B0609020204030204" pitchFamily="49" charset="0"/>
              </a:rPr>
              <a:t> ##</a:t>
            </a:r>
            <a:r>
              <a:rPr lang="ru-RU" sz="1600" dirty="0" smtClean="0">
                <a:latin typeface="Consolas" panose="020B0609020204030204" pitchFamily="49" charset="0"/>
              </a:rPr>
              <a:t>н</a:t>
            </a:r>
            <a:r>
              <a:rPr lang="ru-RU" sz="1600" dirty="0">
                <a:latin typeface="Consolas" panose="020B0609020204030204" pitchFamily="49" charset="0"/>
              </a:rPr>
              <a:t> </a:t>
            </a:r>
            <a:r>
              <a:rPr lang="ru-RU" sz="1600" dirty="0" smtClean="0">
                <a:latin typeface="Consolas" panose="020B0609020204030204" pitchFamily="49" charset="0"/>
              </a:rPr>
              <a:t>п</a:t>
            </a:r>
            <a:r>
              <a:rPr lang="en-US" sz="1600" dirty="0" smtClean="0">
                <a:latin typeface="Consolas" panose="020B0609020204030204" pitchFamily="49" charset="0"/>
              </a:rPr>
              <a:t> ##</a:t>
            </a:r>
            <a:r>
              <a:rPr lang="ru-RU" sz="1600" dirty="0" smtClean="0">
                <a:latin typeface="Consolas" panose="020B0609020204030204" pitchFamily="49" charset="0"/>
              </a:rPr>
              <a:t>р</a:t>
            </a:r>
            <a:r>
              <a:rPr lang="en-US" sz="1600" dirty="0" smtClean="0">
                <a:latin typeface="Consolas" panose="020B0609020204030204" pitchFamily="49" charset="0"/>
              </a:rPr>
              <a:t> ##</a:t>
            </a:r>
            <a:r>
              <a:rPr lang="ru-RU" sz="1600" dirty="0" smtClean="0">
                <a:latin typeface="Consolas" panose="020B0609020204030204" pitchFamily="49" charset="0"/>
              </a:rPr>
              <a:t>в</a:t>
            </a:r>
            <a:r>
              <a:rPr lang="en-US" sz="1600" dirty="0" smtClean="0">
                <a:latin typeface="Consolas" panose="020B0609020204030204" pitchFamily="49" charset="0"/>
              </a:rPr>
              <a:t> ##</a:t>
            </a:r>
            <a:r>
              <a:rPr lang="ru-RU" sz="1600" dirty="0" smtClean="0">
                <a:latin typeface="Consolas" panose="020B0609020204030204" pitchFamily="49" charset="0"/>
              </a:rPr>
              <a:t>и</a:t>
            </a:r>
            <a:r>
              <a:rPr lang="en-US" sz="1600" dirty="0" smtClean="0">
                <a:latin typeface="Consolas" panose="020B0609020204030204" pitchFamily="49" charset="0"/>
              </a:rPr>
              <a:t> ##</a:t>
            </a:r>
            <a:r>
              <a:rPr lang="ru-RU" sz="1600" dirty="0" smtClean="0">
                <a:latin typeface="Consolas" panose="020B0609020204030204" pitchFamily="49" charset="0"/>
              </a:rPr>
              <a:t>л 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838199" y="4632029"/>
                <a:ext cx="3822650" cy="5185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𝑠𝑐𝑜𝑟𝑒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М,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##</m:t>
                          </m:r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о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23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∙1</m:t>
                          </m:r>
                          <m:r>
                            <a:rPr lang="ru-R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477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0.0002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4632029"/>
                <a:ext cx="3822650" cy="51854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6096000" y="4665932"/>
                <a:ext cx="4735233" cy="51943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𝑠𝑐𝑜𝑟𝑒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##</m:t>
                          </m:r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ы,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##</m:t>
                          </m:r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х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47</m:t>
                          </m:r>
                        </m:num>
                        <m:den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385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ru-R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140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0.0008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4665932"/>
                <a:ext cx="4735233" cy="519438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838199" y="5478424"/>
                <a:ext cx="4176913" cy="5185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𝑠𝑐𝑜𝑟𝑒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##</m:t>
                          </m:r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д,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##</m:t>
                          </m:r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я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416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ru-R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244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0.00007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5478424"/>
                <a:ext cx="4176913" cy="51854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C8664-78E5-4C8A-950D-AE5D980E4814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5942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Unigram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838200" y="1798368"/>
            <a:ext cx="41092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AlBERT</a:t>
            </a:r>
            <a:r>
              <a:rPr lang="de-DE" dirty="0" smtClean="0">
                <a:latin typeface="Arial" panose="020B0604020202020204" pitchFamily="34" charset="0"/>
                <a:cs typeface="Arial" panose="020B0604020202020204" pitchFamily="34" charset="0"/>
              </a:rPr>
              <a:t>, T5, </a:t>
            </a:r>
            <a:r>
              <a:rPr lang="de-DE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mBART</a:t>
            </a:r>
            <a:r>
              <a:rPr lang="de-DE" dirty="0" smtClean="0">
                <a:latin typeface="Arial" panose="020B0604020202020204" pitchFamily="34" charset="0"/>
                <a:cs typeface="Arial" panose="020B0604020202020204" pitchFamily="34" charset="0"/>
              </a:rPr>
              <a:t>, Big Bird и </a:t>
            </a:r>
            <a:r>
              <a:rPr lang="de-DE" dirty="0" err="1" smtClean="0">
                <a:latin typeface="Arial" panose="020B0604020202020204" pitchFamily="34" charset="0"/>
                <a:cs typeface="Arial" panose="020B0604020202020204" pitchFamily="34" charset="0"/>
              </a:rPr>
              <a:t>XLNet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38200" y="2711496"/>
            <a:ext cx="1071164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Обратная логика: берём огромный начальный словарь и сокращаем его</a:t>
            </a: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b="1" dirty="0" smtClean="0">
                <a:latin typeface="Arial" panose="020B0604020202020204" pitchFamily="34" charset="0"/>
                <a:cs typeface="Arial" panose="020B0604020202020204" pitchFamily="34" charset="0"/>
              </a:rPr>
              <a:t>Алгоритм:</a:t>
            </a:r>
          </a:p>
          <a:p>
            <a:endParaRPr lang="ru-RU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Инициализируем словарь (например, берём наиболее частые подстроки или применяем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BPE 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с большим размером словаря)</a:t>
            </a: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+mj-lt"/>
              <a:buAutoNum type="arabicPeriod"/>
            </a:pP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Выбираем токены, исключение которых приведёт к наименьшим потерям (10 – 20% от размера словаря). Исключаем их из словаря.</a:t>
            </a: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+mj-lt"/>
              <a:buAutoNum type="arabicPeriod"/>
            </a:pP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Повторяем шаг 2, пока словарь не достигнет заданного размера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C8664-78E5-4C8A-950D-AE5D980E4814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9574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C8664-78E5-4C8A-950D-AE5D980E4814}" type="slidenum">
              <a:rPr lang="ru-RU" smtClean="0"/>
              <a:t>15</a:t>
            </a:fld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880565" y="1426944"/>
            <a:ext cx="4920001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Рассмотрим </a:t>
            </a:r>
            <a:r>
              <a:rPr lang="ru-RU" dirty="0" err="1" smtClean="0">
                <a:latin typeface="Arial" panose="020B0604020202020204" pitchFamily="34" charset="0"/>
                <a:cs typeface="Arial" panose="020B0604020202020204" pitchFamily="34" charset="0"/>
              </a:rPr>
              <a:t>токенизацию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 слова «_честных»</a:t>
            </a:r>
          </a:p>
          <a:p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Словарь: а … я, _</a:t>
            </a:r>
            <a:r>
              <a:rPr lang="ru-RU" dirty="0" err="1" smtClean="0">
                <a:latin typeface="Arial" panose="020B0604020202020204" pitchFamily="34" charset="0"/>
                <a:cs typeface="Arial" panose="020B0604020202020204" pitchFamily="34" charset="0"/>
              </a:rPr>
              <a:t>чест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dirty="0" err="1" smtClean="0">
                <a:latin typeface="Arial" panose="020B0604020202020204" pitchFamily="34" charset="0"/>
                <a:cs typeface="Arial" panose="020B0604020202020204" pitchFamily="34" charset="0"/>
              </a:rPr>
              <a:t>ых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, _че, </a:t>
            </a:r>
            <a:r>
              <a:rPr lang="ru-RU" dirty="0" err="1" smtClean="0">
                <a:latin typeface="Arial" panose="020B0604020202020204" pitchFamily="34" charset="0"/>
                <a:cs typeface="Arial" panose="020B0604020202020204" pitchFamily="34" charset="0"/>
              </a:rPr>
              <a:t>ст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dirty="0" err="1" smtClean="0">
                <a:latin typeface="Arial" panose="020B0604020202020204" pitchFamily="34" charset="0"/>
                <a:cs typeface="Arial" panose="020B0604020202020204" pitchFamily="34" charset="0"/>
              </a:rPr>
              <a:t>ны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546472" y="3042360"/>
            <a:ext cx="10230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_</a:t>
            </a:r>
            <a:r>
              <a:rPr lang="ru-RU" dirty="0" err="1" smtClean="0"/>
              <a:t>чест</a:t>
            </a:r>
            <a:r>
              <a:rPr lang="ru-RU" dirty="0" smtClean="0"/>
              <a:t> (1)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1581739" y="4220530"/>
            <a:ext cx="9525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_че (12)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1653032" y="5417652"/>
            <a:ext cx="8370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_ч (47)</a:t>
            </a:r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7588892" y="3855494"/>
            <a:ext cx="85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н</a:t>
            </a:r>
            <a:r>
              <a:rPr lang="ru-RU" dirty="0" smtClean="0"/>
              <a:t> (943)</a:t>
            </a:r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3899103" y="3596358"/>
            <a:ext cx="917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err="1"/>
              <a:t>с</a:t>
            </a:r>
            <a:r>
              <a:rPr lang="ru-RU" dirty="0" err="1" smtClean="0"/>
              <a:t>т</a:t>
            </a:r>
            <a:r>
              <a:rPr lang="ru-RU" dirty="0" smtClean="0"/>
              <a:t> (130)</a:t>
            </a:r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3238741" y="4611199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</a:t>
            </a:r>
            <a:r>
              <a:rPr lang="ru-RU" dirty="0" smtClean="0"/>
              <a:t> (530)</a:t>
            </a:r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4681688" y="4603043"/>
            <a:ext cx="819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т</a:t>
            </a:r>
            <a:r>
              <a:rPr lang="ru-RU" dirty="0" smtClean="0"/>
              <a:t> (785)</a:t>
            </a:r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2900650" y="5416425"/>
            <a:ext cx="9621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е (1339)</a:t>
            </a:r>
            <a:endParaRPr lang="ru-RU" dirty="0"/>
          </a:p>
        </p:txBody>
      </p:sp>
      <p:sp>
        <p:nvSpPr>
          <p:cNvPr id="15" name="TextBox 14"/>
          <p:cNvSpPr txBox="1"/>
          <p:nvPr/>
        </p:nvSpPr>
        <p:spPr>
          <a:xfrm>
            <a:off x="9062768" y="4623410"/>
            <a:ext cx="883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ы</a:t>
            </a:r>
            <a:r>
              <a:rPr lang="ru-RU" dirty="0" smtClean="0"/>
              <a:t> (385)</a:t>
            </a:r>
            <a:endParaRPr lang="ru-RU" dirty="0"/>
          </a:p>
        </p:txBody>
      </p:sp>
      <p:sp>
        <p:nvSpPr>
          <p:cNvPr id="16" name="TextBox 15"/>
          <p:cNvSpPr txBox="1"/>
          <p:nvPr/>
        </p:nvSpPr>
        <p:spPr>
          <a:xfrm>
            <a:off x="10056165" y="4623410"/>
            <a:ext cx="829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х</a:t>
            </a:r>
            <a:r>
              <a:rPr lang="ru-RU" dirty="0" smtClean="0"/>
              <a:t> (148)</a:t>
            </a:r>
            <a:endParaRPr lang="ru-RU" dirty="0"/>
          </a:p>
        </p:txBody>
      </p:sp>
      <p:sp>
        <p:nvSpPr>
          <p:cNvPr id="18" name="TextBox 17"/>
          <p:cNvSpPr txBox="1"/>
          <p:nvPr/>
        </p:nvSpPr>
        <p:spPr>
          <a:xfrm>
            <a:off x="9259422" y="3227026"/>
            <a:ext cx="865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err="1"/>
              <a:t>ы</a:t>
            </a:r>
            <a:r>
              <a:rPr lang="ru-RU" dirty="0" err="1" smtClean="0"/>
              <a:t>х</a:t>
            </a:r>
            <a:r>
              <a:rPr lang="ru-RU" dirty="0" smtClean="0"/>
              <a:t> (47)</a:t>
            </a:r>
            <a:endParaRPr lang="ru-RU" dirty="0"/>
          </a:p>
        </p:txBody>
      </p:sp>
      <p:sp>
        <p:nvSpPr>
          <p:cNvPr id="19" name="TextBox 18"/>
          <p:cNvSpPr txBox="1"/>
          <p:nvPr/>
        </p:nvSpPr>
        <p:spPr>
          <a:xfrm>
            <a:off x="7796215" y="5426724"/>
            <a:ext cx="10070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err="1"/>
              <a:t>н</a:t>
            </a:r>
            <a:r>
              <a:rPr lang="ru-RU" dirty="0" err="1" smtClean="0"/>
              <a:t>ы</a:t>
            </a:r>
            <a:r>
              <a:rPr lang="ru-RU" dirty="0" smtClean="0"/>
              <a:t> (136)</a:t>
            </a:r>
            <a:endParaRPr lang="ru-RU" dirty="0"/>
          </a:p>
        </p:txBody>
      </p:sp>
      <p:sp>
        <p:nvSpPr>
          <p:cNvPr id="20" name="TextBox 19"/>
          <p:cNvSpPr txBox="1"/>
          <p:nvPr/>
        </p:nvSpPr>
        <p:spPr>
          <a:xfrm>
            <a:off x="9428699" y="5449499"/>
            <a:ext cx="829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х</a:t>
            </a:r>
            <a:r>
              <a:rPr lang="ru-RU" dirty="0" smtClean="0"/>
              <a:t> (148)</a:t>
            </a:r>
            <a:endParaRPr lang="ru-RU" dirty="0"/>
          </a:p>
        </p:txBody>
      </p:sp>
      <p:sp>
        <p:nvSpPr>
          <p:cNvPr id="21" name="TextBox 20"/>
          <p:cNvSpPr txBox="1"/>
          <p:nvPr/>
        </p:nvSpPr>
        <p:spPr>
          <a:xfrm>
            <a:off x="4312837" y="6104923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</a:t>
            </a:r>
            <a:r>
              <a:rPr lang="ru-RU" dirty="0" smtClean="0"/>
              <a:t> (530)</a:t>
            </a:r>
            <a:endParaRPr lang="ru-RU" dirty="0"/>
          </a:p>
        </p:txBody>
      </p:sp>
      <p:sp>
        <p:nvSpPr>
          <p:cNvPr id="22" name="TextBox 21"/>
          <p:cNvSpPr txBox="1"/>
          <p:nvPr/>
        </p:nvSpPr>
        <p:spPr>
          <a:xfrm>
            <a:off x="4681688" y="5380838"/>
            <a:ext cx="917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err="1"/>
              <a:t>с</a:t>
            </a:r>
            <a:r>
              <a:rPr lang="ru-RU" dirty="0" err="1" smtClean="0"/>
              <a:t>т</a:t>
            </a:r>
            <a:r>
              <a:rPr lang="ru-RU" dirty="0" smtClean="0"/>
              <a:t> (130)</a:t>
            </a:r>
            <a:endParaRPr lang="ru-RU" dirty="0"/>
          </a:p>
        </p:txBody>
      </p:sp>
      <p:sp>
        <p:nvSpPr>
          <p:cNvPr id="23" name="TextBox 22"/>
          <p:cNvSpPr txBox="1"/>
          <p:nvPr/>
        </p:nvSpPr>
        <p:spPr>
          <a:xfrm>
            <a:off x="5247415" y="6104923"/>
            <a:ext cx="819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т</a:t>
            </a:r>
            <a:r>
              <a:rPr lang="ru-RU" dirty="0" smtClean="0"/>
              <a:t> (785)</a:t>
            </a:r>
            <a:endParaRPr lang="ru-RU" dirty="0"/>
          </a:p>
        </p:txBody>
      </p:sp>
      <p:cxnSp>
        <p:nvCxnSpPr>
          <p:cNvPr id="25" name="Прямая со стрелкой 24"/>
          <p:cNvCxnSpPr>
            <a:stCxn id="4" idx="3"/>
          </p:cNvCxnSpPr>
          <p:nvPr/>
        </p:nvCxnSpPr>
        <p:spPr>
          <a:xfrm>
            <a:off x="2569509" y="3227026"/>
            <a:ext cx="4850194" cy="55399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 стрелкой 25"/>
          <p:cNvCxnSpPr/>
          <p:nvPr/>
        </p:nvCxnSpPr>
        <p:spPr>
          <a:xfrm flipV="1">
            <a:off x="2560105" y="3855494"/>
            <a:ext cx="1218153" cy="5497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 стрелкой 29"/>
          <p:cNvCxnSpPr/>
          <p:nvPr/>
        </p:nvCxnSpPr>
        <p:spPr>
          <a:xfrm>
            <a:off x="2569509" y="3227026"/>
            <a:ext cx="5085325" cy="233847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 стрелкой 31"/>
          <p:cNvCxnSpPr>
            <a:stCxn id="8" idx="3"/>
          </p:cNvCxnSpPr>
          <p:nvPr/>
        </p:nvCxnSpPr>
        <p:spPr>
          <a:xfrm>
            <a:off x="4816342" y="3781024"/>
            <a:ext cx="2603361" cy="2694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 стрелкой 34"/>
          <p:cNvCxnSpPr/>
          <p:nvPr/>
        </p:nvCxnSpPr>
        <p:spPr>
          <a:xfrm>
            <a:off x="4816342" y="3856693"/>
            <a:ext cx="2809358" cy="15597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 стрелкой 36"/>
          <p:cNvCxnSpPr>
            <a:endCxn id="21" idx="1"/>
          </p:cNvCxnSpPr>
          <p:nvPr/>
        </p:nvCxnSpPr>
        <p:spPr>
          <a:xfrm>
            <a:off x="3518263" y="5818831"/>
            <a:ext cx="794574" cy="47075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 стрелкой 38"/>
          <p:cNvCxnSpPr>
            <a:stCxn id="6" idx="3"/>
            <a:endCxn id="11" idx="1"/>
          </p:cNvCxnSpPr>
          <p:nvPr/>
        </p:nvCxnSpPr>
        <p:spPr>
          <a:xfrm flipV="1">
            <a:off x="2490121" y="5601091"/>
            <a:ext cx="410529" cy="122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 стрелкой 40"/>
          <p:cNvCxnSpPr>
            <a:stCxn id="9" idx="3"/>
            <a:endCxn id="10" idx="1"/>
          </p:cNvCxnSpPr>
          <p:nvPr/>
        </p:nvCxnSpPr>
        <p:spPr>
          <a:xfrm flipV="1">
            <a:off x="4066212" y="4787709"/>
            <a:ext cx="615476" cy="81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Прямая со стрелкой 44"/>
          <p:cNvCxnSpPr>
            <a:endCxn id="22" idx="1"/>
          </p:cNvCxnSpPr>
          <p:nvPr/>
        </p:nvCxnSpPr>
        <p:spPr>
          <a:xfrm flipV="1">
            <a:off x="3829519" y="5565504"/>
            <a:ext cx="852169" cy="2065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Прямая со стрелкой 48"/>
          <p:cNvCxnSpPr>
            <a:endCxn id="23" idx="1"/>
          </p:cNvCxnSpPr>
          <p:nvPr/>
        </p:nvCxnSpPr>
        <p:spPr>
          <a:xfrm flipV="1">
            <a:off x="5077855" y="6289589"/>
            <a:ext cx="169560" cy="1727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Прямая со стрелкой 50"/>
          <p:cNvCxnSpPr/>
          <p:nvPr/>
        </p:nvCxnSpPr>
        <p:spPr>
          <a:xfrm flipV="1">
            <a:off x="5552087" y="4245981"/>
            <a:ext cx="1867616" cy="130679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Прямая со стрелкой 52"/>
          <p:cNvCxnSpPr/>
          <p:nvPr/>
        </p:nvCxnSpPr>
        <p:spPr>
          <a:xfrm flipV="1">
            <a:off x="6071485" y="4385067"/>
            <a:ext cx="1435304" cy="187085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Прямая со стрелкой 55"/>
          <p:cNvCxnSpPr>
            <a:endCxn id="9" idx="1"/>
          </p:cNvCxnSpPr>
          <p:nvPr/>
        </p:nvCxnSpPr>
        <p:spPr>
          <a:xfrm>
            <a:off x="2515933" y="4454955"/>
            <a:ext cx="722808" cy="3409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Прямая со стрелкой 57"/>
          <p:cNvCxnSpPr/>
          <p:nvPr/>
        </p:nvCxnSpPr>
        <p:spPr>
          <a:xfrm flipV="1">
            <a:off x="5443359" y="4164814"/>
            <a:ext cx="1976344" cy="6019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Прямая со стрелкой 59"/>
          <p:cNvCxnSpPr/>
          <p:nvPr/>
        </p:nvCxnSpPr>
        <p:spPr>
          <a:xfrm>
            <a:off x="5571955" y="5603076"/>
            <a:ext cx="2076215" cy="767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Прямая со стрелкой 61"/>
          <p:cNvCxnSpPr/>
          <p:nvPr/>
        </p:nvCxnSpPr>
        <p:spPr>
          <a:xfrm>
            <a:off x="5443359" y="4829722"/>
            <a:ext cx="2191745" cy="7987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Прямая со стрелкой 63"/>
          <p:cNvCxnSpPr/>
          <p:nvPr/>
        </p:nvCxnSpPr>
        <p:spPr>
          <a:xfrm flipV="1">
            <a:off x="6066870" y="5750170"/>
            <a:ext cx="1558830" cy="5687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Прямая со стрелкой 65"/>
          <p:cNvCxnSpPr>
            <a:endCxn id="18" idx="1"/>
          </p:cNvCxnSpPr>
          <p:nvPr/>
        </p:nvCxnSpPr>
        <p:spPr>
          <a:xfrm flipV="1">
            <a:off x="8442011" y="3411692"/>
            <a:ext cx="817411" cy="60884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Прямая со стрелкой 67"/>
          <p:cNvCxnSpPr>
            <a:endCxn id="15" idx="1"/>
          </p:cNvCxnSpPr>
          <p:nvPr/>
        </p:nvCxnSpPr>
        <p:spPr>
          <a:xfrm>
            <a:off x="8442011" y="4116876"/>
            <a:ext cx="620757" cy="6912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Прямая со стрелкой 69"/>
          <p:cNvCxnSpPr>
            <a:endCxn id="20" idx="1"/>
          </p:cNvCxnSpPr>
          <p:nvPr/>
        </p:nvCxnSpPr>
        <p:spPr>
          <a:xfrm>
            <a:off x="8766266" y="5622098"/>
            <a:ext cx="662433" cy="1206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Прямая со стрелкой 71"/>
          <p:cNvCxnSpPr/>
          <p:nvPr/>
        </p:nvCxnSpPr>
        <p:spPr>
          <a:xfrm flipV="1">
            <a:off x="10236261" y="5020089"/>
            <a:ext cx="1537728" cy="5913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Прямая со стрелкой 73"/>
          <p:cNvCxnSpPr/>
          <p:nvPr/>
        </p:nvCxnSpPr>
        <p:spPr>
          <a:xfrm>
            <a:off x="10133809" y="3474703"/>
            <a:ext cx="1640180" cy="138034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Прямая со стрелкой 75"/>
          <p:cNvCxnSpPr/>
          <p:nvPr/>
        </p:nvCxnSpPr>
        <p:spPr>
          <a:xfrm flipV="1">
            <a:off x="9872533" y="4829722"/>
            <a:ext cx="215683" cy="794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Прямая со стрелкой 77"/>
          <p:cNvCxnSpPr/>
          <p:nvPr/>
        </p:nvCxnSpPr>
        <p:spPr>
          <a:xfrm>
            <a:off x="10893947" y="4795865"/>
            <a:ext cx="865678" cy="10351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Заголовок 1"/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 smtClean="0"/>
              <a:t>Unigram</a:t>
            </a:r>
            <a:r>
              <a:rPr lang="ru-RU" dirty="0" smtClean="0"/>
              <a:t>: </a:t>
            </a:r>
            <a:r>
              <a:rPr lang="ru-RU" dirty="0" err="1" smtClean="0"/>
              <a:t>токенизация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08436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C8664-78E5-4C8A-950D-AE5D980E4814}" type="slidenum">
              <a:rPr lang="ru-RU" smtClean="0"/>
              <a:t>16</a:t>
            </a:fld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1546472" y="3042360"/>
            <a:ext cx="10230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>
                    <a:lumMod val="75000"/>
                  </a:schemeClr>
                </a:solidFill>
              </a:rPr>
              <a:t>_</a:t>
            </a:r>
            <a:r>
              <a:rPr lang="ru-RU" dirty="0" err="1" smtClean="0">
                <a:solidFill>
                  <a:schemeClr val="bg1">
                    <a:lumMod val="75000"/>
                  </a:schemeClr>
                </a:solidFill>
              </a:rPr>
              <a:t>чест</a:t>
            </a:r>
            <a:r>
              <a:rPr lang="ru-RU" dirty="0" smtClean="0">
                <a:solidFill>
                  <a:schemeClr val="bg1">
                    <a:lumMod val="75000"/>
                  </a:schemeClr>
                </a:solidFill>
              </a:rPr>
              <a:t> (1)</a:t>
            </a:r>
            <a:endParaRPr lang="ru-RU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81739" y="4220530"/>
            <a:ext cx="9525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_че (12)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1653032" y="5417652"/>
            <a:ext cx="8370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>
                    <a:lumMod val="75000"/>
                  </a:schemeClr>
                </a:solidFill>
              </a:rPr>
              <a:t>_ч (47)</a:t>
            </a:r>
            <a:endParaRPr lang="ru-RU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588892" y="3855494"/>
            <a:ext cx="85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н</a:t>
            </a:r>
            <a:r>
              <a:rPr lang="ru-RU" dirty="0" smtClean="0"/>
              <a:t> (943)</a:t>
            </a:r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3899103" y="3596358"/>
            <a:ext cx="917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err="1"/>
              <a:t>с</a:t>
            </a:r>
            <a:r>
              <a:rPr lang="ru-RU" dirty="0" err="1" smtClean="0"/>
              <a:t>т</a:t>
            </a:r>
            <a:r>
              <a:rPr lang="ru-RU" dirty="0" smtClean="0"/>
              <a:t> (130)</a:t>
            </a:r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3238741" y="4611199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>
                    <a:lumMod val="75000"/>
                  </a:schemeClr>
                </a:solidFill>
              </a:rPr>
              <a:t>с</a:t>
            </a:r>
            <a:r>
              <a:rPr lang="ru-RU" dirty="0" smtClean="0">
                <a:solidFill>
                  <a:schemeClr val="bg1">
                    <a:lumMod val="75000"/>
                  </a:schemeClr>
                </a:solidFill>
              </a:rPr>
              <a:t> (530)</a:t>
            </a:r>
            <a:endParaRPr lang="ru-RU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681688" y="4603043"/>
            <a:ext cx="819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>
                    <a:lumMod val="75000"/>
                  </a:schemeClr>
                </a:solidFill>
              </a:rPr>
              <a:t>т</a:t>
            </a:r>
            <a:r>
              <a:rPr lang="ru-RU" dirty="0" smtClean="0">
                <a:solidFill>
                  <a:schemeClr val="bg1">
                    <a:lumMod val="75000"/>
                  </a:schemeClr>
                </a:solidFill>
              </a:rPr>
              <a:t> (785)</a:t>
            </a:r>
            <a:endParaRPr lang="ru-RU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900650" y="5416425"/>
            <a:ext cx="9621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>
                    <a:lumMod val="75000"/>
                  </a:schemeClr>
                </a:solidFill>
              </a:rPr>
              <a:t>е (1339)</a:t>
            </a:r>
            <a:endParaRPr lang="ru-RU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062768" y="4623410"/>
            <a:ext cx="883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>
                    <a:lumMod val="75000"/>
                  </a:schemeClr>
                </a:solidFill>
              </a:rPr>
              <a:t>ы</a:t>
            </a:r>
            <a:r>
              <a:rPr lang="ru-RU" dirty="0" smtClean="0">
                <a:solidFill>
                  <a:schemeClr val="bg1">
                    <a:lumMod val="75000"/>
                  </a:schemeClr>
                </a:solidFill>
              </a:rPr>
              <a:t> (385)</a:t>
            </a:r>
            <a:endParaRPr lang="ru-RU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056165" y="4623410"/>
            <a:ext cx="829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>
                    <a:lumMod val="75000"/>
                  </a:schemeClr>
                </a:solidFill>
              </a:rPr>
              <a:t>х</a:t>
            </a:r>
            <a:r>
              <a:rPr lang="ru-RU" dirty="0" smtClean="0">
                <a:solidFill>
                  <a:schemeClr val="bg1">
                    <a:lumMod val="75000"/>
                  </a:schemeClr>
                </a:solidFill>
              </a:rPr>
              <a:t> (148)</a:t>
            </a:r>
            <a:endParaRPr lang="ru-RU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259422" y="3227026"/>
            <a:ext cx="865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err="1"/>
              <a:t>ы</a:t>
            </a:r>
            <a:r>
              <a:rPr lang="ru-RU" dirty="0" err="1" smtClean="0"/>
              <a:t>х</a:t>
            </a:r>
            <a:r>
              <a:rPr lang="ru-RU" dirty="0" smtClean="0"/>
              <a:t> (47)</a:t>
            </a:r>
            <a:endParaRPr lang="ru-RU" dirty="0"/>
          </a:p>
        </p:txBody>
      </p:sp>
      <p:sp>
        <p:nvSpPr>
          <p:cNvPr id="19" name="TextBox 18"/>
          <p:cNvSpPr txBox="1"/>
          <p:nvPr/>
        </p:nvSpPr>
        <p:spPr>
          <a:xfrm>
            <a:off x="7796215" y="5426724"/>
            <a:ext cx="10070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err="1">
                <a:solidFill>
                  <a:schemeClr val="bg1">
                    <a:lumMod val="75000"/>
                  </a:schemeClr>
                </a:solidFill>
              </a:rPr>
              <a:t>н</a:t>
            </a:r>
            <a:r>
              <a:rPr lang="ru-RU" dirty="0" err="1" smtClean="0">
                <a:solidFill>
                  <a:schemeClr val="bg1">
                    <a:lumMod val="75000"/>
                  </a:schemeClr>
                </a:solidFill>
              </a:rPr>
              <a:t>ы</a:t>
            </a:r>
            <a:r>
              <a:rPr lang="ru-RU" dirty="0" smtClean="0">
                <a:solidFill>
                  <a:schemeClr val="bg1">
                    <a:lumMod val="75000"/>
                  </a:schemeClr>
                </a:solidFill>
              </a:rPr>
              <a:t> (136)</a:t>
            </a:r>
            <a:endParaRPr lang="ru-RU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428699" y="5449499"/>
            <a:ext cx="829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>
                    <a:lumMod val="75000"/>
                  </a:schemeClr>
                </a:solidFill>
              </a:rPr>
              <a:t>х</a:t>
            </a:r>
            <a:r>
              <a:rPr lang="ru-RU" dirty="0" smtClean="0">
                <a:solidFill>
                  <a:schemeClr val="bg1">
                    <a:lumMod val="75000"/>
                  </a:schemeClr>
                </a:solidFill>
              </a:rPr>
              <a:t> (148)</a:t>
            </a:r>
            <a:endParaRPr lang="ru-RU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12837" y="6104923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>
                    <a:lumMod val="75000"/>
                  </a:schemeClr>
                </a:solidFill>
              </a:rPr>
              <a:t>с</a:t>
            </a:r>
            <a:r>
              <a:rPr lang="ru-RU" dirty="0" smtClean="0">
                <a:solidFill>
                  <a:schemeClr val="bg1">
                    <a:lumMod val="75000"/>
                  </a:schemeClr>
                </a:solidFill>
              </a:rPr>
              <a:t> (530)</a:t>
            </a:r>
            <a:endParaRPr lang="ru-RU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681688" y="5380838"/>
            <a:ext cx="917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err="1">
                <a:solidFill>
                  <a:schemeClr val="bg1">
                    <a:lumMod val="75000"/>
                  </a:schemeClr>
                </a:solidFill>
              </a:rPr>
              <a:t>с</a:t>
            </a:r>
            <a:r>
              <a:rPr lang="ru-RU" dirty="0" err="1" smtClean="0">
                <a:solidFill>
                  <a:schemeClr val="bg1">
                    <a:lumMod val="75000"/>
                  </a:schemeClr>
                </a:solidFill>
              </a:rPr>
              <a:t>т</a:t>
            </a:r>
            <a:r>
              <a:rPr lang="ru-RU" dirty="0" smtClean="0">
                <a:solidFill>
                  <a:schemeClr val="bg1">
                    <a:lumMod val="75000"/>
                  </a:schemeClr>
                </a:solidFill>
              </a:rPr>
              <a:t> (130)</a:t>
            </a:r>
            <a:endParaRPr lang="ru-RU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247415" y="6104923"/>
            <a:ext cx="819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>
                    <a:lumMod val="75000"/>
                  </a:schemeClr>
                </a:solidFill>
              </a:rPr>
              <a:t>т</a:t>
            </a:r>
            <a:r>
              <a:rPr lang="ru-RU" dirty="0" smtClean="0">
                <a:solidFill>
                  <a:schemeClr val="bg1">
                    <a:lumMod val="75000"/>
                  </a:schemeClr>
                </a:solidFill>
              </a:rPr>
              <a:t> (785)</a:t>
            </a:r>
            <a:endParaRPr lang="ru-RU" dirty="0">
              <a:solidFill>
                <a:schemeClr val="bg1">
                  <a:lumMod val="75000"/>
                </a:schemeClr>
              </a:solidFill>
            </a:endParaRPr>
          </a:p>
        </p:txBody>
      </p:sp>
      <p:cxnSp>
        <p:nvCxnSpPr>
          <p:cNvPr id="25" name="Прямая со стрелкой 24"/>
          <p:cNvCxnSpPr>
            <a:stCxn id="4" idx="3"/>
          </p:cNvCxnSpPr>
          <p:nvPr/>
        </p:nvCxnSpPr>
        <p:spPr>
          <a:xfrm>
            <a:off x="2569509" y="3227026"/>
            <a:ext cx="4850194" cy="553998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 стрелкой 25"/>
          <p:cNvCxnSpPr/>
          <p:nvPr/>
        </p:nvCxnSpPr>
        <p:spPr>
          <a:xfrm flipV="1">
            <a:off x="2560105" y="3855494"/>
            <a:ext cx="1218153" cy="5497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 стрелкой 29"/>
          <p:cNvCxnSpPr/>
          <p:nvPr/>
        </p:nvCxnSpPr>
        <p:spPr>
          <a:xfrm>
            <a:off x="2569509" y="3227026"/>
            <a:ext cx="5085325" cy="2338478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 стрелкой 31"/>
          <p:cNvCxnSpPr>
            <a:stCxn id="8" idx="3"/>
          </p:cNvCxnSpPr>
          <p:nvPr/>
        </p:nvCxnSpPr>
        <p:spPr>
          <a:xfrm>
            <a:off x="4816342" y="3781024"/>
            <a:ext cx="2603361" cy="2694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 стрелкой 34"/>
          <p:cNvCxnSpPr/>
          <p:nvPr/>
        </p:nvCxnSpPr>
        <p:spPr>
          <a:xfrm>
            <a:off x="4816342" y="3856693"/>
            <a:ext cx="2809358" cy="1559732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 стрелкой 36"/>
          <p:cNvCxnSpPr>
            <a:endCxn id="21" idx="1"/>
          </p:cNvCxnSpPr>
          <p:nvPr/>
        </p:nvCxnSpPr>
        <p:spPr>
          <a:xfrm>
            <a:off x="3518263" y="5818831"/>
            <a:ext cx="794574" cy="470758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 стрелкой 38"/>
          <p:cNvCxnSpPr>
            <a:stCxn id="6" idx="3"/>
            <a:endCxn id="11" idx="1"/>
          </p:cNvCxnSpPr>
          <p:nvPr/>
        </p:nvCxnSpPr>
        <p:spPr>
          <a:xfrm flipV="1">
            <a:off x="2490121" y="5601091"/>
            <a:ext cx="410529" cy="1227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 стрелкой 40"/>
          <p:cNvCxnSpPr>
            <a:stCxn id="9" idx="3"/>
            <a:endCxn id="10" idx="1"/>
          </p:cNvCxnSpPr>
          <p:nvPr/>
        </p:nvCxnSpPr>
        <p:spPr>
          <a:xfrm flipV="1">
            <a:off x="4066212" y="4787709"/>
            <a:ext cx="615476" cy="8156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Прямая со стрелкой 44"/>
          <p:cNvCxnSpPr>
            <a:endCxn id="22" idx="1"/>
          </p:cNvCxnSpPr>
          <p:nvPr/>
        </p:nvCxnSpPr>
        <p:spPr>
          <a:xfrm flipV="1">
            <a:off x="3829519" y="5565504"/>
            <a:ext cx="852169" cy="20651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Прямая со стрелкой 48"/>
          <p:cNvCxnSpPr>
            <a:endCxn id="23" idx="1"/>
          </p:cNvCxnSpPr>
          <p:nvPr/>
        </p:nvCxnSpPr>
        <p:spPr>
          <a:xfrm flipV="1">
            <a:off x="5077855" y="6289589"/>
            <a:ext cx="169560" cy="17274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Прямая со стрелкой 50"/>
          <p:cNvCxnSpPr/>
          <p:nvPr/>
        </p:nvCxnSpPr>
        <p:spPr>
          <a:xfrm flipV="1">
            <a:off x="5552087" y="4245981"/>
            <a:ext cx="1867616" cy="1306797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Прямая со стрелкой 52"/>
          <p:cNvCxnSpPr/>
          <p:nvPr/>
        </p:nvCxnSpPr>
        <p:spPr>
          <a:xfrm flipV="1">
            <a:off x="6071485" y="4385067"/>
            <a:ext cx="1435304" cy="1870857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Прямая со стрелкой 55"/>
          <p:cNvCxnSpPr>
            <a:endCxn id="9" idx="1"/>
          </p:cNvCxnSpPr>
          <p:nvPr/>
        </p:nvCxnSpPr>
        <p:spPr>
          <a:xfrm>
            <a:off x="2515933" y="4454955"/>
            <a:ext cx="722808" cy="34091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Прямая со стрелкой 57"/>
          <p:cNvCxnSpPr/>
          <p:nvPr/>
        </p:nvCxnSpPr>
        <p:spPr>
          <a:xfrm flipV="1">
            <a:off x="5443359" y="4164814"/>
            <a:ext cx="1976344" cy="601913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Прямая со стрелкой 59"/>
          <p:cNvCxnSpPr/>
          <p:nvPr/>
        </p:nvCxnSpPr>
        <p:spPr>
          <a:xfrm>
            <a:off x="5571955" y="5603076"/>
            <a:ext cx="2076215" cy="76799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Прямая со стрелкой 61"/>
          <p:cNvCxnSpPr/>
          <p:nvPr/>
        </p:nvCxnSpPr>
        <p:spPr>
          <a:xfrm>
            <a:off x="5443359" y="4829722"/>
            <a:ext cx="2191745" cy="798725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Прямая со стрелкой 63"/>
          <p:cNvCxnSpPr/>
          <p:nvPr/>
        </p:nvCxnSpPr>
        <p:spPr>
          <a:xfrm flipV="1">
            <a:off x="6066870" y="5750170"/>
            <a:ext cx="1558830" cy="568749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Прямая со стрелкой 65"/>
          <p:cNvCxnSpPr>
            <a:endCxn id="18" idx="1"/>
          </p:cNvCxnSpPr>
          <p:nvPr/>
        </p:nvCxnSpPr>
        <p:spPr>
          <a:xfrm flipV="1">
            <a:off x="8442011" y="3411692"/>
            <a:ext cx="817411" cy="60884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Прямая со стрелкой 67"/>
          <p:cNvCxnSpPr>
            <a:endCxn id="15" idx="1"/>
          </p:cNvCxnSpPr>
          <p:nvPr/>
        </p:nvCxnSpPr>
        <p:spPr>
          <a:xfrm>
            <a:off x="8442011" y="4116876"/>
            <a:ext cx="620757" cy="69120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Прямая со стрелкой 69"/>
          <p:cNvCxnSpPr>
            <a:endCxn id="20" idx="1"/>
          </p:cNvCxnSpPr>
          <p:nvPr/>
        </p:nvCxnSpPr>
        <p:spPr>
          <a:xfrm>
            <a:off x="8766266" y="5622098"/>
            <a:ext cx="662433" cy="12067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Прямая со стрелкой 71"/>
          <p:cNvCxnSpPr/>
          <p:nvPr/>
        </p:nvCxnSpPr>
        <p:spPr>
          <a:xfrm flipV="1">
            <a:off x="10236261" y="5020089"/>
            <a:ext cx="1537728" cy="591301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Прямая со стрелкой 73"/>
          <p:cNvCxnSpPr/>
          <p:nvPr/>
        </p:nvCxnSpPr>
        <p:spPr>
          <a:xfrm>
            <a:off x="10133809" y="3474703"/>
            <a:ext cx="1640180" cy="138034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Прямая со стрелкой 75"/>
          <p:cNvCxnSpPr/>
          <p:nvPr/>
        </p:nvCxnSpPr>
        <p:spPr>
          <a:xfrm flipV="1">
            <a:off x="9872533" y="4829722"/>
            <a:ext cx="215683" cy="7948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Прямая со стрелкой 77"/>
          <p:cNvCxnSpPr/>
          <p:nvPr/>
        </p:nvCxnSpPr>
        <p:spPr>
          <a:xfrm>
            <a:off x="10893947" y="4795865"/>
            <a:ext cx="865678" cy="103514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79482" y="1936103"/>
                <a:ext cx="6409655" cy="5203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𝑠𝑐𝑜𝑟𝑒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num>
                        <m:den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10000</m:t>
                          </m:r>
                        </m:den>
                      </m:f>
                      <m:r>
                        <a:rPr lang="de-DE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de-DE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130</m:t>
                          </m:r>
                        </m:num>
                        <m:den>
                          <m:r>
                            <a:rPr lang="ru-R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10000</m:t>
                          </m:r>
                        </m:den>
                      </m:f>
                      <m:r>
                        <a:rPr lang="de-DE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de-DE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943</m:t>
                          </m:r>
                        </m:num>
                        <m:den>
                          <m:r>
                            <a:rPr lang="ru-R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10000</m:t>
                          </m:r>
                        </m:den>
                      </m:f>
                      <m:r>
                        <a:rPr lang="de-DE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de-DE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47</m:t>
                          </m:r>
                        </m:num>
                        <m:den>
                          <m:r>
                            <a:rPr lang="ru-R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10000</m:t>
                          </m:r>
                        </m:den>
                      </m:f>
                      <m:r>
                        <a:rPr lang="ru-R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=6,91∙</m:t>
                      </m:r>
                      <m:sSup>
                        <m:sSupPr>
                          <m:ctrlPr>
                            <a:rPr lang="ru-R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ru-R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−13</m:t>
                          </m:r>
                        </m:sup>
                      </m:sSup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482" y="1936103"/>
                <a:ext cx="6409655" cy="520399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Заголовок 1"/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 smtClean="0"/>
              <a:t>Unigram</a:t>
            </a:r>
            <a:r>
              <a:rPr lang="ru-RU" dirty="0" smtClean="0"/>
              <a:t>: </a:t>
            </a:r>
            <a:r>
              <a:rPr lang="ru-RU" dirty="0" err="1" smtClean="0"/>
              <a:t>токенизация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838200" y="1109166"/>
            <a:ext cx="77509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Строим граф всех возможных вариантов </a:t>
            </a:r>
            <a:r>
              <a:rPr lang="ru-RU" dirty="0" err="1" smtClean="0">
                <a:latin typeface="Arial" panose="020B0604020202020204" pitchFamily="34" charset="0"/>
                <a:cs typeface="Arial" panose="020B0604020202020204" pitchFamily="34" charset="0"/>
              </a:rPr>
              <a:t>токенизации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 и считаем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score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9514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C8664-78E5-4C8A-950D-AE5D980E4814}" type="slidenum">
              <a:rPr lang="ru-RU" smtClean="0"/>
              <a:t>17</a:t>
            </a:fld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1546472" y="3042360"/>
            <a:ext cx="10230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_</a:t>
            </a:r>
            <a:r>
              <a:rPr lang="ru-RU" dirty="0" err="1" smtClean="0"/>
              <a:t>чест</a:t>
            </a:r>
            <a:r>
              <a:rPr lang="ru-RU" dirty="0" smtClean="0"/>
              <a:t> (1)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1581739" y="4220530"/>
            <a:ext cx="9525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>
                    <a:lumMod val="75000"/>
                  </a:schemeClr>
                </a:solidFill>
              </a:rPr>
              <a:t>_че (12)</a:t>
            </a:r>
            <a:endParaRPr lang="ru-RU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653032" y="5417652"/>
            <a:ext cx="8370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>
                    <a:lumMod val="75000"/>
                  </a:schemeClr>
                </a:solidFill>
              </a:rPr>
              <a:t>_ч (47)</a:t>
            </a:r>
            <a:endParaRPr lang="ru-RU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588892" y="3855494"/>
            <a:ext cx="85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н</a:t>
            </a:r>
            <a:r>
              <a:rPr lang="ru-RU" dirty="0" smtClean="0"/>
              <a:t> (943)</a:t>
            </a:r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3899103" y="3596358"/>
            <a:ext cx="917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err="1">
                <a:solidFill>
                  <a:schemeClr val="bg1">
                    <a:lumMod val="75000"/>
                  </a:schemeClr>
                </a:solidFill>
              </a:rPr>
              <a:t>с</a:t>
            </a:r>
            <a:r>
              <a:rPr lang="ru-RU" dirty="0" err="1" smtClean="0">
                <a:solidFill>
                  <a:schemeClr val="bg1">
                    <a:lumMod val="75000"/>
                  </a:schemeClr>
                </a:solidFill>
              </a:rPr>
              <a:t>т</a:t>
            </a:r>
            <a:r>
              <a:rPr lang="ru-RU" dirty="0" smtClean="0">
                <a:solidFill>
                  <a:schemeClr val="bg1">
                    <a:lumMod val="75000"/>
                  </a:schemeClr>
                </a:solidFill>
              </a:rPr>
              <a:t> (130)</a:t>
            </a:r>
            <a:endParaRPr lang="ru-RU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238741" y="4611199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>
                    <a:lumMod val="75000"/>
                  </a:schemeClr>
                </a:solidFill>
              </a:rPr>
              <a:t>с</a:t>
            </a:r>
            <a:r>
              <a:rPr lang="ru-RU" dirty="0" smtClean="0">
                <a:solidFill>
                  <a:schemeClr val="bg1">
                    <a:lumMod val="75000"/>
                  </a:schemeClr>
                </a:solidFill>
              </a:rPr>
              <a:t> (530)</a:t>
            </a:r>
            <a:endParaRPr lang="ru-RU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681688" y="4603043"/>
            <a:ext cx="819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>
                    <a:lumMod val="75000"/>
                  </a:schemeClr>
                </a:solidFill>
              </a:rPr>
              <a:t>т</a:t>
            </a:r>
            <a:r>
              <a:rPr lang="ru-RU" dirty="0" smtClean="0">
                <a:solidFill>
                  <a:schemeClr val="bg1">
                    <a:lumMod val="75000"/>
                  </a:schemeClr>
                </a:solidFill>
              </a:rPr>
              <a:t> (785)</a:t>
            </a:r>
            <a:endParaRPr lang="ru-RU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900650" y="5416425"/>
            <a:ext cx="9621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>
                    <a:lumMod val="75000"/>
                  </a:schemeClr>
                </a:solidFill>
              </a:rPr>
              <a:t>е (1339)</a:t>
            </a:r>
            <a:endParaRPr lang="ru-RU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062768" y="4623410"/>
            <a:ext cx="883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>
                    <a:lumMod val="75000"/>
                  </a:schemeClr>
                </a:solidFill>
              </a:rPr>
              <a:t>ы</a:t>
            </a:r>
            <a:r>
              <a:rPr lang="ru-RU" dirty="0" smtClean="0">
                <a:solidFill>
                  <a:schemeClr val="bg1">
                    <a:lumMod val="75000"/>
                  </a:schemeClr>
                </a:solidFill>
              </a:rPr>
              <a:t> (385)</a:t>
            </a:r>
            <a:endParaRPr lang="ru-RU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056165" y="4623410"/>
            <a:ext cx="829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>
                    <a:lumMod val="75000"/>
                  </a:schemeClr>
                </a:solidFill>
              </a:rPr>
              <a:t>х</a:t>
            </a:r>
            <a:r>
              <a:rPr lang="ru-RU" dirty="0" smtClean="0">
                <a:solidFill>
                  <a:schemeClr val="bg1">
                    <a:lumMod val="75000"/>
                  </a:schemeClr>
                </a:solidFill>
              </a:rPr>
              <a:t> (148)</a:t>
            </a:r>
            <a:endParaRPr lang="ru-RU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259422" y="3227026"/>
            <a:ext cx="865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err="1"/>
              <a:t>ы</a:t>
            </a:r>
            <a:r>
              <a:rPr lang="ru-RU" dirty="0" err="1" smtClean="0"/>
              <a:t>х</a:t>
            </a:r>
            <a:r>
              <a:rPr lang="ru-RU" dirty="0" smtClean="0"/>
              <a:t> (47)</a:t>
            </a:r>
            <a:endParaRPr lang="ru-RU" dirty="0"/>
          </a:p>
        </p:txBody>
      </p:sp>
      <p:sp>
        <p:nvSpPr>
          <p:cNvPr id="19" name="TextBox 18"/>
          <p:cNvSpPr txBox="1"/>
          <p:nvPr/>
        </p:nvSpPr>
        <p:spPr>
          <a:xfrm>
            <a:off x="7796215" y="5426724"/>
            <a:ext cx="10070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err="1">
                <a:solidFill>
                  <a:schemeClr val="bg1">
                    <a:lumMod val="75000"/>
                  </a:schemeClr>
                </a:solidFill>
              </a:rPr>
              <a:t>н</a:t>
            </a:r>
            <a:r>
              <a:rPr lang="ru-RU" dirty="0" err="1" smtClean="0">
                <a:solidFill>
                  <a:schemeClr val="bg1">
                    <a:lumMod val="75000"/>
                  </a:schemeClr>
                </a:solidFill>
              </a:rPr>
              <a:t>ы</a:t>
            </a:r>
            <a:r>
              <a:rPr lang="ru-RU" dirty="0" smtClean="0">
                <a:solidFill>
                  <a:schemeClr val="bg1">
                    <a:lumMod val="75000"/>
                  </a:schemeClr>
                </a:solidFill>
              </a:rPr>
              <a:t> (136)</a:t>
            </a:r>
            <a:endParaRPr lang="ru-RU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428699" y="5449499"/>
            <a:ext cx="829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>
                    <a:lumMod val="75000"/>
                  </a:schemeClr>
                </a:solidFill>
              </a:rPr>
              <a:t>х</a:t>
            </a:r>
            <a:r>
              <a:rPr lang="ru-RU" dirty="0" smtClean="0">
                <a:solidFill>
                  <a:schemeClr val="bg1">
                    <a:lumMod val="75000"/>
                  </a:schemeClr>
                </a:solidFill>
              </a:rPr>
              <a:t> (148)</a:t>
            </a:r>
            <a:endParaRPr lang="ru-RU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12837" y="6104923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>
                    <a:lumMod val="75000"/>
                  </a:schemeClr>
                </a:solidFill>
              </a:rPr>
              <a:t>с</a:t>
            </a:r>
            <a:r>
              <a:rPr lang="ru-RU" dirty="0" smtClean="0">
                <a:solidFill>
                  <a:schemeClr val="bg1">
                    <a:lumMod val="75000"/>
                  </a:schemeClr>
                </a:solidFill>
              </a:rPr>
              <a:t> (530)</a:t>
            </a:r>
            <a:endParaRPr lang="ru-RU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681688" y="5380838"/>
            <a:ext cx="917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err="1">
                <a:solidFill>
                  <a:schemeClr val="bg1">
                    <a:lumMod val="75000"/>
                  </a:schemeClr>
                </a:solidFill>
              </a:rPr>
              <a:t>с</a:t>
            </a:r>
            <a:r>
              <a:rPr lang="ru-RU" dirty="0" err="1" smtClean="0">
                <a:solidFill>
                  <a:schemeClr val="bg1">
                    <a:lumMod val="75000"/>
                  </a:schemeClr>
                </a:solidFill>
              </a:rPr>
              <a:t>т</a:t>
            </a:r>
            <a:r>
              <a:rPr lang="ru-RU" dirty="0" smtClean="0">
                <a:solidFill>
                  <a:schemeClr val="bg1">
                    <a:lumMod val="75000"/>
                  </a:schemeClr>
                </a:solidFill>
              </a:rPr>
              <a:t> (130)</a:t>
            </a:r>
            <a:endParaRPr lang="ru-RU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247415" y="6104923"/>
            <a:ext cx="819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>
                    <a:lumMod val="75000"/>
                  </a:schemeClr>
                </a:solidFill>
              </a:rPr>
              <a:t>т</a:t>
            </a:r>
            <a:r>
              <a:rPr lang="ru-RU" dirty="0" smtClean="0">
                <a:solidFill>
                  <a:schemeClr val="bg1">
                    <a:lumMod val="75000"/>
                  </a:schemeClr>
                </a:solidFill>
              </a:rPr>
              <a:t> (785)</a:t>
            </a:r>
            <a:endParaRPr lang="ru-RU" dirty="0">
              <a:solidFill>
                <a:schemeClr val="bg1">
                  <a:lumMod val="75000"/>
                </a:schemeClr>
              </a:solidFill>
            </a:endParaRPr>
          </a:p>
        </p:txBody>
      </p:sp>
      <p:cxnSp>
        <p:nvCxnSpPr>
          <p:cNvPr id="25" name="Прямая со стрелкой 24"/>
          <p:cNvCxnSpPr>
            <a:stCxn id="4" idx="3"/>
          </p:cNvCxnSpPr>
          <p:nvPr/>
        </p:nvCxnSpPr>
        <p:spPr>
          <a:xfrm>
            <a:off x="2569509" y="3227026"/>
            <a:ext cx="4850194" cy="55399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 стрелкой 25"/>
          <p:cNvCxnSpPr/>
          <p:nvPr/>
        </p:nvCxnSpPr>
        <p:spPr>
          <a:xfrm flipV="1">
            <a:off x="2560105" y="3855494"/>
            <a:ext cx="1218153" cy="549702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 стрелкой 29"/>
          <p:cNvCxnSpPr/>
          <p:nvPr/>
        </p:nvCxnSpPr>
        <p:spPr>
          <a:xfrm>
            <a:off x="2569509" y="3227026"/>
            <a:ext cx="5085325" cy="2338478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 стрелкой 31"/>
          <p:cNvCxnSpPr>
            <a:stCxn id="8" idx="3"/>
          </p:cNvCxnSpPr>
          <p:nvPr/>
        </p:nvCxnSpPr>
        <p:spPr>
          <a:xfrm>
            <a:off x="4816342" y="3781024"/>
            <a:ext cx="2603361" cy="269419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 стрелкой 34"/>
          <p:cNvCxnSpPr/>
          <p:nvPr/>
        </p:nvCxnSpPr>
        <p:spPr>
          <a:xfrm>
            <a:off x="4816342" y="3856693"/>
            <a:ext cx="2809358" cy="1559732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 стрелкой 36"/>
          <p:cNvCxnSpPr>
            <a:endCxn id="21" idx="1"/>
          </p:cNvCxnSpPr>
          <p:nvPr/>
        </p:nvCxnSpPr>
        <p:spPr>
          <a:xfrm>
            <a:off x="3518263" y="5818831"/>
            <a:ext cx="794574" cy="470758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 стрелкой 38"/>
          <p:cNvCxnSpPr>
            <a:stCxn id="6" idx="3"/>
            <a:endCxn id="11" idx="1"/>
          </p:cNvCxnSpPr>
          <p:nvPr/>
        </p:nvCxnSpPr>
        <p:spPr>
          <a:xfrm flipV="1">
            <a:off x="2490121" y="5601091"/>
            <a:ext cx="410529" cy="1227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 стрелкой 40"/>
          <p:cNvCxnSpPr>
            <a:stCxn id="9" idx="3"/>
            <a:endCxn id="10" idx="1"/>
          </p:cNvCxnSpPr>
          <p:nvPr/>
        </p:nvCxnSpPr>
        <p:spPr>
          <a:xfrm flipV="1">
            <a:off x="4066212" y="4787709"/>
            <a:ext cx="615476" cy="8156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Прямая со стрелкой 44"/>
          <p:cNvCxnSpPr>
            <a:endCxn id="22" idx="1"/>
          </p:cNvCxnSpPr>
          <p:nvPr/>
        </p:nvCxnSpPr>
        <p:spPr>
          <a:xfrm flipV="1">
            <a:off x="3829519" y="5565504"/>
            <a:ext cx="852169" cy="20651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Прямая со стрелкой 48"/>
          <p:cNvCxnSpPr>
            <a:endCxn id="23" idx="1"/>
          </p:cNvCxnSpPr>
          <p:nvPr/>
        </p:nvCxnSpPr>
        <p:spPr>
          <a:xfrm flipV="1">
            <a:off x="5077855" y="6289589"/>
            <a:ext cx="169560" cy="17274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Прямая со стрелкой 50"/>
          <p:cNvCxnSpPr/>
          <p:nvPr/>
        </p:nvCxnSpPr>
        <p:spPr>
          <a:xfrm flipV="1">
            <a:off x="5552087" y="4245981"/>
            <a:ext cx="1867616" cy="1306797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Прямая со стрелкой 52"/>
          <p:cNvCxnSpPr/>
          <p:nvPr/>
        </p:nvCxnSpPr>
        <p:spPr>
          <a:xfrm flipV="1">
            <a:off x="6071485" y="4385067"/>
            <a:ext cx="1435304" cy="1870857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Прямая со стрелкой 55"/>
          <p:cNvCxnSpPr>
            <a:endCxn id="9" idx="1"/>
          </p:cNvCxnSpPr>
          <p:nvPr/>
        </p:nvCxnSpPr>
        <p:spPr>
          <a:xfrm>
            <a:off x="2515933" y="4454955"/>
            <a:ext cx="722808" cy="34091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Прямая со стрелкой 57"/>
          <p:cNvCxnSpPr/>
          <p:nvPr/>
        </p:nvCxnSpPr>
        <p:spPr>
          <a:xfrm flipV="1">
            <a:off x="5443359" y="4164814"/>
            <a:ext cx="1976344" cy="601913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Прямая со стрелкой 59"/>
          <p:cNvCxnSpPr/>
          <p:nvPr/>
        </p:nvCxnSpPr>
        <p:spPr>
          <a:xfrm>
            <a:off x="5571955" y="5603076"/>
            <a:ext cx="2076215" cy="76799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Прямая со стрелкой 61"/>
          <p:cNvCxnSpPr/>
          <p:nvPr/>
        </p:nvCxnSpPr>
        <p:spPr>
          <a:xfrm>
            <a:off x="5443359" y="4829722"/>
            <a:ext cx="2191745" cy="798725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Прямая со стрелкой 63"/>
          <p:cNvCxnSpPr/>
          <p:nvPr/>
        </p:nvCxnSpPr>
        <p:spPr>
          <a:xfrm flipV="1">
            <a:off x="6066870" y="5750170"/>
            <a:ext cx="1558830" cy="568749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Прямая со стрелкой 65"/>
          <p:cNvCxnSpPr>
            <a:endCxn id="18" idx="1"/>
          </p:cNvCxnSpPr>
          <p:nvPr/>
        </p:nvCxnSpPr>
        <p:spPr>
          <a:xfrm flipV="1">
            <a:off x="8442011" y="3411692"/>
            <a:ext cx="817411" cy="60884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Прямая со стрелкой 67"/>
          <p:cNvCxnSpPr>
            <a:endCxn id="15" idx="1"/>
          </p:cNvCxnSpPr>
          <p:nvPr/>
        </p:nvCxnSpPr>
        <p:spPr>
          <a:xfrm>
            <a:off x="8442011" y="4116876"/>
            <a:ext cx="620757" cy="69120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Прямая со стрелкой 69"/>
          <p:cNvCxnSpPr>
            <a:endCxn id="20" idx="1"/>
          </p:cNvCxnSpPr>
          <p:nvPr/>
        </p:nvCxnSpPr>
        <p:spPr>
          <a:xfrm>
            <a:off x="8766266" y="5622098"/>
            <a:ext cx="662433" cy="12067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Прямая со стрелкой 71"/>
          <p:cNvCxnSpPr/>
          <p:nvPr/>
        </p:nvCxnSpPr>
        <p:spPr>
          <a:xfrm flipV="1">
            <a:off x="10236261" y="5020089"/>
            <a:ext cx="1537728" cy="591301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Прямая со стрелкой 73"/>
          <p:cNvCxnSpPr/>
          <p:nvPr/>
        </p:nvCxnSpPr>
        <p:spPr>
          <a:xfrm>
            <a:off x="10133809" y="3474703"/>
            <a:ext cx="1640180" cy="138034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Прямая со стрелкой 75"/>
          <p:cNvCxnSpPr/>
          <p:nvPr/>
        </p:nvCxnSpPr>
        <p:spPr>
          <a:xfrm flipV="1">
            <a:off x="9872533" y="4829722"/>
            <a:ext cx="215683" cy="7948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Прямая со стрелкой 77"/>
          <p:cNvCxnSpPr/>
          <p:nvPr/>
        </p:nvCxnSpPr>
        <p:spPr>
          <a:xfrm>
            <a:off x="10893947" y="4795865"/>
            <a:ext cx="865678" cy="103514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0" y="2149863"/>
                <a:ext cx="6409655" cy="5203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𝑠𝑐𝑜𝑟𝑒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10000</m:t>
                          </m:r>
                        </m:den>
                      </m:f>
                      <m:r>
                        <a:rPr lang="de-DE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de-DE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943</m:t>
                          </m:r>
                        </m:num>
                        <m:den>
                          <m:r>
                            <a:rPr lang="ru-R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10000</m:t>
                          </m:r>
                        </m:den>
                      </m:f>
                      <m:r>
                        <a:rPr lang="de-DE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de-DE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47</m:t>
                          </m:r>
                        </m:num>
                        <m:den>
                          <m:r>
                            <a:rPr lang="ru-R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10000</m:t>
                          </m:r>
                        </m:den>
                      </m:f>
                      <m:r>
                        <a:rPr lang="ru-R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=4,43∙</m:t>
                      </m:r>
                      <m:sSup>
                        <m:sSupPr>
                          <m:ctrlPr>
                            <a:rPr lang="ru-R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ru-R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−11</m:t>
                          </m:r>
                        </m:sup>
                      </m:sSup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149863"/>
                <a:ext cx="6409655" cy="520399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Прямоугольник 43"/>
          <p:cNvSpPr/>
          <p:nvPr/>
        </p:nvSpPr>
        <p:spPr>
          <a:xfrm>
            <a:off x="839598" y="1482473"/>
            <a:ext cx="298992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_честных = _</a:t>
            </a:r>
            <a:r>
              <a:rPr lang="ru-RU" dirty="0" err="1" smtClean="0">
                <a:latin typeface="Arial" panose="020B0604020202020204" pitchFamily="34" charset="0"/>
                <a:cs typeface="Arial" panose="020B0604020202020204" pitchFamily="34" charset="0"/>
              </a:rPr>
              <a:t>чест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 + н + </a:t>
            </a:r>
            <a:r>
              <a:rPr lang="ru-RU" dirty="0" err="1" smtClean="0">
                <a:latin typeface="Arial" panose="020B0604020202020204" pitchFamily="34" charset="0"/>
                <a:cs typeface="Arial" panose="020B0604020202020204" pitchFamily="34" charset="0"/>
              </a:rPr>
              <a:t>ых</a:t>
            </a:r>
            <a:endParaRPr lang="ru-RU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Заголовок 1"/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 smtClean="0"/>
              <a:t>Unigram</a:t>
            </a:r>
            <a:r>
              <a:rPr lang="ru-RU" dirty="0" smtClean="0"/>
              <a:t>: </a:t>
            </a:r>
            <a:r>
              <a:rPr lang="ru-RU" dirty="0" err="1" smtClean="0"/>
              <a:t>токенизация</a:t>
            </a:r>
            <a:endParaRPr lang="ru-RU" dirty="0"/>
          </a:p>
        </p:txBody>
      </p:sp>
      <p:sp>
        <p:nvSpPr>
          <p:cNvPr id="47" name="Прямоугольник 46"/>
          <p:cNvSpPr/>
          <p:nvPr/>
        </p:nvSpPr>
        <p:spPr>
          <a:xfrm>
            <a:off x="838200" y="1109166"/>
            <a:ext cx="49196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Выбираем вариант с самым большим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score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1390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C8664-78E5-4C8A-950D-AE5D980E4814}" type="slidenum">
              <a:rPr lang="ru-RU" smtClean="0"/>
              <a:t>18</a:t>
            </a:fld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Прямоугольник 43"/>
              <p:cNvSpPr/>
              <p:nvPr/>
            </p:nvSpPr>
            <p:spPr>
              <a:xfrm>
                <a:off x="838200" y="1152178"/>
                <a:ext cx="6944273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ru-RU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Если мы уберём </a:t>
                </a:r>
                <a:r>
                  <a:rPr lang="ru-RU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токен</a:t>
                </a:r>
                <a:r>
                  <a:rPr lang="ru-RU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«_</a:t>
                </a:r>
                <a:r>
                  <a:rPr lang="ru-RU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чест</a:t>
                </a:r>
                <a:r>
                  <a:rPr lang="ru-RU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» из словаря</a:t>
                </a:r>
                <a:r>
                  <a:rPr lang="en-US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ru-RU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то потери составят:</a:t>
                </a:r>
              </a:p>
              <a:p>
                <a:endParaRPr lang="ru-RU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func>
                        <m:funcPr>
                          <m:ctrlPr>
                            <a:rPr lang="de-DE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uncPr>
                        <m:fName>
                          <m:r>
                            <a:rPr lang="en-US" b="0" i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(−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ru-RU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4,43∙</m:t>
                              </m:r>
                              <m:sSup>
                                <m:sSupPr>
                                  <m:ctrlPr>
                                    <a:rPr lang="ru-RU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ru-RU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−11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+(−</m:t>
                          </m:r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6,91∙</m:t>
                                  </m:r>
                                  <m:sSup>
                                    <m:sSupPr>
                                      <m:ctrlPr>
                                        <a:rPr lang="ru-RU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ru-RU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  <m:sup>
                                      <m:r>
                                        <a:rPr lang="ru-RU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−13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=1,807</m:t>
                          </m:r>
                        </m:e>
                      </m:func>
                    </m:oMath>
                  </m:oMathPara>
                </a14:m>
                <a:endParaRPr lang="ru-R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4" name="Прямоугольник 4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152178"/>
                <a:ext cx="6944273" cy="923330"/>
              </a:xfrm>
              <a:prstGeom prst="rect">
                <a:avLst/>
              </a:prstGeom>
              <a:blipFill rotWithShape="0">
                <a:blip r:embed="rId3"/>
                <a:stretch>
                  <a:fillRect l="-790" t="-3311" r="-878" b="-596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Box 45"/>
          <p:cNvSpPr txBox="1"/>
          <p:nvPr/>
        </p:nvSpPr>
        <p:spPr>
          <a:xfrm>
            <a:off x="1546472" y="3042360"/>
            <a:ext cx="10230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rgbClr val="FF0000"/>
                </a:solidFill>
              </a:rPr>
              <a:t>_</a:t>
            </a:r>
            <a:r>
              <a:rPr lang="ru-RU" dirty="0" err="1" smtClean="0">
                <a:solidFill>
                  <a:srgbClr val="FF0000"/>
                </a:solidFill>
              </a:rPr>
              <a:t>чест</a:t>
            </a:r>
            <a:r>
              <a:rPr lang="ru-RU" dirty="0" smtClean="0">
                <a:solidFill>
                  <a:srgbClr val="FF0000"/>
                </a:solidFill>
              </a:rPr>
              <a:t> (1)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581739" y="4220530"/>
            <a:ext cx="9525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_че (12)</a:t>
            </a:r>
            <a:endParaRPr lang="ru-RU" dirty="0"/>
          </a:p>
        </p:txBody>
      </p:sp>
      <p:sp>
        <p:nvSpPr>
          <p:cNvPr id="48" name="TextBox 47"/>
          <p:cNvSpPr txBox="1"/>
          <p:nvPr/>
        </p:nvSpPr>
        <p:spPr>
          <a:xfrm>
            <a:off x="1653032" y="5417652"/>
            <a:ext cx="8370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>
                    <a:lumMod val="75000"/>
                  </a:schemeClr>
                </a:solidFill>
              </a:rPr>
              <a:t>_ч (47)</a:t>
            </a:r>
            <a:endParaRPr lang="ru-RU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7588892" y="3855494"/>
            <a:ext cx="85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н</a:t>
            </a:r>
            <a:r>
              <a:rPr lang="ru-RU" dirty="0" smtClean="0"/>
              <a:t> (943)</a:t>
            </a:r>
            <a:endParaRPr lang="ru-RU" dirty="0"/>
          </a:p>
        </p:txBody>
      </p:sp>
      <p:sp>
        <p:nvSpPr>
          <p:cNvPr id="52" name="TextBox 51"/>
          <p:cNvSpPr txBox="1"/>
          <p:nvPr/>
        </p:nvSpPr>
        <p:spPr>
          <a:xfrm>
            <a:off x="3899103" y="3596358"/>
            <a:ext cx="917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err="1"/>
              <a:t>с</a:t>
            </a:r>
            <a:r>
              <a:rPr lang="ru-RU" dirty="0" err="1" smtClean="0"/>
              <a:t>т</a:t>
            </a:r>
            <a:r>
              <a:rPr lang="ru-RU" dirty="0" smtClean="0"/>
              <a:t> (130)</a:t>
            </a:r>
            <a:endParaRPr lang="ru-RU" dirty="0"/>
          </a:p>
        </p:txBody>
      </p:sp>
      <p:sp>
        <p:nvSpPr>
          <p:cNvPr id="54" name="TextBox 53"/>
          <p:cNvSpPr txBox="1"/>
          <p:nvPr/>
        </p:nvSpPr>
        <p:spPr>
          <a:xfrm>
            <a:off x="3238741" y="4611199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>
                    <a:lumMod val="75000"/>
                  </a:schemeClr>
                </a:solidFill>
              </a:rPr>
              <a:t>с</a:t>
            </a:r>
            <a:r>
              <a:rPr lang="ru-RU" dirty="0" smtClean="0">
                <a:solidFill>
                  <a:schemeClr val="bg1">
                    <a:lumMod val="75000"/>
                  </a:schemeClr>
                </a:solidFill>
              </a:rPr>
              <a:t> (530)</a:t>
            </a:r>
            <a:endParaRPr lang="ru-RU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4681688" y="4603043"/>
            <a:ext cx="819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>
                    <a:lumMod val="75000"/>
                  </a:schemeClr>
                </a:solidFill>
              </a:rPr>
              <a:t>т</a:t>
            </a:r>
            <a:r>
              <a:rPr lang="ru-RU" dirty="0" smtClean="0">
                <a:solidFill>
                  <a:schemeClr val="bg1">
                    <a:lumMod val="75000"/>
                  </a:schemeClr>
                </a:solidFill>
              </a:rPr>
              <a:t> (785)</a:t>
            </a:r>
            <a:endParaRPr lang="ru-RU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2900650" y="5416425"/>
            <a:ext cx="9621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>
                    <a:lumMod val="75000"/>
                  </a:schemeClr>
                </a:solidFill>
              </a:rPr>
              <a:t>е (1339)</a:t>
            </a:r>
            <a:endParaRPr lang="ru-RU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9062768" y="4623410"/>
            <a:ext cx="883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>
                    <a:lumMod val="75000"/>
                  </a:schemeClr>
                </a:solidFill>
              </a:rPr>
              <a:t>ы</a:t>
            </a:r>
            <a:r>
              <a:rPr lang="ru-RU" dirty="0" smtClean="0">
                <a:solidFill>
                  <a:schemeClr val="bg1">
                    <a:lumMod val="75000"/>
                  </a:schemeClr>
                </a:solidFill>
              </a:rPr>
              <a:t> (385)</a:t>
            </a:r>
            <a:endParaRPr lang="ru-RU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0056165" y="4623410"/>
            <a:ext cx="829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>
                    <a:lumMod val="75000"/>
                  </a:schemeClr>
                </a:solidFill>
              </a:rPr>
              <a:t>х</a:t>
            </a:r>
            <a:r>
              <a:rPr lang="ru-RU" dirty="0" smtClean="0">
                <a:solidFill>
                  <a:schemeClr val="bg1">
                    <a:lumMod val="75000"/>
                  </a:schemeClr>
                </a:solidFill>
              </a:rPr>
              <a:t> (148)</a:t>
            </a:r>
            <a:endParaRPr lang="ru-RU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9259422" y="3227026"/>
            <a:ext cx="865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err="1"/>
              <a:t>ы</a:t>
            </a:r>
            <a:r>
              <a:rPr lang="ru-RU" dirty="0" err="1" smtClean="0"/>
              <a:t>х</a:t>
            </a:r>
            <a:r>
              <a:rPr lang="ru-RU" dirty="0" smtClean="0"/>
              <a:t> (47)</a:t>
            </a:r>
            <a:endParaRPr lang="ru-RU" dirty="0"/>
          </a:p>
        </p:txBody>
      </p:sp>
      <p:sp>
        <p:nvSpPr>
          <p:cNvPr id="65" name="TextBox 64"/>
          <p:cNvSpPr txBox="1"/>
          <p:nvPr/>
        </p:nvSpPr>
        <p:spPr>
          <a:xfrm>
            <a:off x="7796215" y="5426724"/>
            <a:ext cx="10070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err="1">
                <a:solidFill>
                  <a:schemeClr val="bg1">
                    <a:lumMod val="75000"/>
                  </a:schemeClr>
                </a:solidFill>
              </a:rPr>
              <a:t>н</a:t>
            </a:r>
            <a:r>
              <a:rPr lang="ru-RU" dirty="0" err="1" smtClean="0">
                <a:solidFill>
                  <a:schemeClr val="bg1">
                    <a:lumMod val="75000"/>
                  </a:schemeClr>
                </a:solidFill>
              </a:rPr>
              <a:t>ы</a:t>
            </a:r>
            <a:r>
              <a:rPr lang="ru-RU" dirty="0" smtClean="0">
                <a:solidFill>
                  <a:schemeClr val="bg1">
                    <a:lumMod val="75000"/>
                  </a:schemeClr>
                </a:solidFill>
              </a:rPr>
              <a:t> (136)</a:t>
            </a:r>
            <a:endParaRPr lang="ru-RU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9428699" y="5449499"/>
            <a:ext cx="829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>
                    <a:lumMod val="75000"/>
                  </a:schemeClr>
                </a:solidFill>
              </a:rPr>
              <a:t>х</a:t>
            </a:r>
            <a:r>
              <a:rPr lang="ru-RU" dirty="0" smtClean="0">
                <a:solidFill>
                  <a:schemeClr val="bg1">
                    <a:lumMod val="75000"/>
                  </a:schemeClr>
                </a:solidFill>
              </a:rPr>
              <a:t> (148)</a:t>
            </a:r>
            <a:endParaRPr lang="ru-RU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4312837" y="6104923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>
                    <a:lumMod val="75000"/>
                  </a:schemeClr>
                </a:solidFill>
              </a:rPr>
              <a:t>с</a:t>
            </a:r>
            <a:r>
              <a:rPr lang="ru-RU" dirty="0" smtClean="0">
                <a:solidFill>
                  <a:schemeClr val="bg1">
                    <a:lumMod val="75000"/>
                  </a:schemeClr>
                </a:solidFill>
              </a:rPr>
              <a:t> (530)</a:t>
            </a:r>
            <a:endParaRPr lang="ru-RU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4681688" y="5380838"/>
            <a:ext cx="917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err="1">
                <a:solidFill>
                  <a:schemeClr val="bg1">
                    <a:lumMod val="75000"/>
                  </a:schemeClr>
                </a:solidFill>
              </a:rPr>
              <a:t>с</a:t>
            </a:r>
            <a:r>
              <a:rPr lang="ru-RU" dirty="0" err="1" smtClean="0">
                <a:solidFill>
                  <a:schemeClr val="bg1">
                    <a:lumMod val="75000"/>
                  </a:schemeClr>
                </a:solidFill>
              </a:rPr>
              <a:t>т</a:t>
            </a:r>
            <a:r>
              <a:rPr lang="ru-RU" dirty="0" smtClean="0">
                <a:solidFill>
                  <a:schemeClr val="bg1">
                    <a:lumMod val="75000"/>
                  </a:schemeClr>
                </a:solidFill>
              </a:rPr>
              <a:t> (130)</a:t>
            </a:r>
            <a:endParaRPr lang="ru-RU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5247415" y="6104923"/>
            <a:ext cx="819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>
                    <a:lumMod val="75000"/>
                  </a:schemeClr>
                </a:solidFill>
              </a:rPr>
              <a:t>т</a:t>
            </a:r>
            <a:r>
              <a:rPr lang="ru-RU" dirty="0" smtClean="0">
                <a:solidFill>
                  <a:schemeClr val="bg1">
                    <a:lumMod val="75000"/>
                  </a:schemeClr>
                </a:solidFill>
              </a:rPr>
              <a:t> (785)</a:t>
            </a:r>
            <a:endParaRPr lang="ru-RU" dirty="0">
              <a:solidFill>
                <a:schemeClr val="bg1">
                  <a:lumMod val="75000"/>
                </a:schemeClr>
              </a:solidFill>
            </a:endParaRPr>
          </a:p>
        </p:txBody>
      </p:sp>
      <p:cxnSp>
        <p:nvCxnSpPr>
          <p:cNvPr id="77" name="Прямая со стрелкой 76"/>
          <p:cNvCxnSpPr/>
          <p:nvPr/>
        </p:nvCxnSpPr>
        <p:spPr>
          <a:xfrm flipV="1">
            <a:off x="2560105" y="3855494"/>
            <a:ext cx="1218153" cy="5497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Прямая со стрелкой 79"/>
          <p:cNvCxnSpPr>
            <a:stCxn id="52" idx="3"/>
          </p:cNvCxnSpPr>
          <p:nvPr/>
        </p:nvCxnSpPr>
        <p:spPr>
          <a:xfrm>
            <a:off x="4816342" y="3781024"/>
            <a:ext cx="2603361" cy="2694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Прямая со стрелкой 80"/>
          <p:cNvCxnSpPr/>
          <p:nvPr/>
        </p:nvCxnSpPr>
        <p:spPr>
          <a:xfrm>
            <a:off x="4816342" y="3856693"/>
            <a:ext cx="2809358" cy="1559732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Прямая со стрелкой 81"/>
          <p:cNvCxnSpPr>
            <a:endCxn id="69" idx="1"/>
          </p:cNvCxnSpPr>
          <p:nvPr/>
        </p:nvCxnSpPr>
        <p:spPr>
          <a:xfrm>
            <a:off x="3518263" y="5818831"/>
            <a:ext cx="794574" cy="470758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Прямая со стрелкой 82"/>
          <p:cNvCxnSpPr>
            <a:stCxn id="48" idx="3"/>
            <a:endCxn id="57" idx="1"/>
          </p:cNvCxnSpPr>
          <p:nvPr/>
        </p:nvCxnSpPr>
        <p:spPr>
          <a:xfrm flipV="1">
            <a:off x="2490121" y="5601091"/>
            <a:ext cx="410529" cy="1227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Прямая со стрелкой 83"/>
          <p:cNvCxnSpPr>
            <a:stCxn id="54" idx="3"/>
            <a:endCxn id="55" idx="1"/>
          </p:cNvCxnSpPr>
          <p:nvPr/>
        </p:nvCxnSpPr>
        <p:spPr>
          <a:xfrm flipV="1">
            <a:off x="4066212" y="4787709"/>
            <a:ext cx="615476" cy="8156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Прямая со стрелкой 84"/>
          <p:cNvCxnSpPr>
            <a:endCxn id="71" idx="1"/>
          </p:cNvCxnSpPr>
          <p:nvPr/>
        </p:nvCxnSpPr>
        <p:spPr>
          <a:xfrm flipV="1">
            <a:off x="3829519" y="5565504"/>
            <a:ext cx="852169" cy="20651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Прямая со стрелкой 85"/>
          <p:cNvCxnSpPr>
            <a:endCxn id="73" idx="1"/>
          </p:cNvCxnSpPr>
          <p:nvPr/>
        </p:nvCxnSpPr>
        <p:spPr>
          <a:xfrm flipV="1">
            <a:off x="5077855" y="6289589"/>
            <a:ext cx="169560" cy="17274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Прямая со стрелкой 86"/>
          <p:cNvCxnSpPr/>
          <p:nvPr/>
        </p:nvCxnSpPr>
        <p:spPr>
          <a:xfrm flipV="1">
            <a:off x="5552087" y="4245981"/>
            <a:ext cx="1867616" cy="1306797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Прямая со стрелкой 87"/>
          <p:cNvCxnSpPr/>
          <p:nvPr/>
        </p:nvCxnSpPr>
        <p:spPr>
          <a:xfrm flipV="1">
            <a:off x="6071485" y="4385067"/>
            <a:ext cx="1435304" cy="1870857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Прямая со стрелкой 88"/>
          <p:cNvCxnSpPr>
            <a:endCxn id="54" idx="1"/>
          </p:cNvCxnSpPr>
          <p:nvPr/>
        </p:nvCxnSpPr>
        <p:spPr>
          <a:xfrm>
            <a:off x="2515933" y="4454955"/>
            <a:ext cx="722808" cy="34091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Прямая со стрелкой 89"/>
          <p:cNvCxnSpPr/>
          <p:nvPr/>
        </p:nvCxnSpPr>
        <p:spPr>
          <a:xfrm flipV="1">
            <a:off x="5443359" y="4164814"/>
            <a:ext cx="1976344" cy="601913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Прямая со стрелкой 90"/>
          <p:cNvCxnSpPr/>
          <p:nvPr/>
        </p:nvCxnSpPr>
        <p:spPr>
          <a:xfrm>
            <a:off x="5571955" y="5603076"/>
            <a:ext cx="2076215" cy="76799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Прямая со стрелкой 91"/>
          <p:cNvCxnSpPr/>
          <p:nvPr/>
        </p:nvCxnSpPr>
        <p:spPr>
          <a:xfrm>
            <a:off x="5443359" y="4829722"/>
            <a:ext cx="2191745" cy="798725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Прямая со стрелкой 92"/>
          <p:cNvCxnSpPr/>
          <p:nvPr/>
        </p:nvCxnSpPr>
        <p:spPr>
          <a:xfrm flipV="1">
            <a:off x="6066870" y="5750170"/>
            <a:ext cx="1558830" cy="568749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Прямая со стрелкой 93"/>
          <p:cNvCxnSpPr>
            <a:endCxn id="63" idx="1"/>
          </p:cNvCxnSpPr>
          <p:nvPr/>
        </p:nvCxnSpPr>
        <p:spPr>
          <a:xfrm flipV="1">
            <a:off x="8442011" y="3411692"/>
            <a:ext cx="817411" cy="60884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Прямая со стрелкой 94"/>
          <p:cNvCxnSpPr>
            <a:endCxn id="59" idx="1"/>
          </p:cNvCxnSpPr>
          <p:nvPr/>
        </p:nvCxnSpPr>
        <p:spPr>
          <a:xfrm>
            <a:off x="8442011" y="4116876"/>
            <a:ext cx="620757" cy="69120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Прямая со стрелкой 95"/>
          <p:cNvCxnSpPr>
            <a:endCxn id="67" idx="1"/>
          </p:cNvCxnSpPr>
          <p:nvPr/>
        </p:nvCxnSpPr>
        <p:spPr>
          <a:xfrm>
            <a:off x="8766266" y="5622098"/>
            <a:ext cx="662433" cy="12067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Прямая со стрелкой 96"/>
          <p:cNvCxnSpPr/>
          <p:nvPr/>
        </p:nvCxnSpPr>
        <p:spPr>
          <a:xfrm flipV="1">
            <a:off x="10236261" y="5020089"/>
            <a:ext cx="1537728" cy="591301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Прямая со стрелкой 97"/>
          <p:cNvCxnSpPr/>
          <p:nvPr/>
        </p:nvCxnSpPr>
        <p:spPr>
          <a:xfrm>
            <a:off x="10133809" y="3474703"/>
            <a:ext cx="1640180" cy="138034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Прямая со стрелкой 98"/>
          <p:cNvCxnSpPr/>
          <p:nvPr/>
        </p:nvCxnSpPr>
        <p:spPr>
          <a:xfrm flipV="1">
            <a:off x="9872533" y="4829722"/>
            <a:ext cx="215683" cy="7948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Прямая со стрелкой 99"/>
          <p:cNvCxnSpPr/>
          <p:nvPr/>
        </p:nvCxnSpPr>
        <p:spPr>
          <a:xfrm>
            <a:off x="10893947" y="4795865"/>
            <a:ext cx="865678" cy="103514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Заголовок 1"/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 smtClean="0"/>
              <a:t>Unigram</a:t>
            </a:r>
            <a:r>
              <a:rPr lang="ru-RU" dirty="0" smtClean="0"/>
              <a:t>: обучение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89937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C8664-78E5-4C8A-950D-AE5D980E4814}" type="slidenum">
              <a:rPr lang="ru-RU" smtClean="0"/>
              <a:t>19</a:t>
            </a:fld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Прямоугольник 43"/>
              <p:cNvSpPr/>
              <p:nvPr/>
            </p:nvSpPr>
            <p:spPr>
              <a:xfrm>
                <a:off x="838200" y="1136690"/>
                <a:ext cx="8986306" cy="147732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ru-RU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Если мы уберём </a:t>
                </a:r>
                <a:r>
                  <a:rPr lang="ru-RU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токен</a:t>
                </a:r>
                <a:r>
                  <a:rPr lang="ru-RU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«</a:t>
                </a:r>
                <a:r>
                  <a:rPr lang="ru-RU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ых</a:t>
                </a:r>
                <a:r>
                  <a:rPr lang="ru-RU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» из словаря</a:t>
                </a:r>
                <a:r>
                  <a:rPr lang="en-US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ru-RU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то потери составят:</a:t>
                </a:r>
              </a:p>
              <a:p>
                <a:endParaRPr lang="ru-RU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func>
                        <m:funcPr>
                          <m:ctrlPr>
                            <a:rPr lang="de-DE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uncPr>
                        <m:fName>
                          <m:r>
                            <a:rPr lang="en-US" b="0" i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(−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ru-RU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4,43∙</m:t>
                              </m:r>
                              <m:sSup>
                                <m:sSupPr>
                                  <m:ctrlPr>
                                    <a:rPr lang="ru-RU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ru-RU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−11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+(−</m:t>
                          </m:r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2,01∙</m:t>
                                  </m:r>
                                  <m:sSup>
                                    <m:sSupPr>
                                      <m:ctrlPr>
                                        <a:rPr lang="ru-RU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ru-RU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  <m:sup>
                                      <m:r>
                                        <a:rPr lang="ru-RU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−11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ru-R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0,34</m:t>
                          </m:r>
                        </m:e>
                      </m:func>
                    </m:oMath>
                  </m:oMathPara>
                </a14:m>
                <a:endParaRPr lang="ru-RU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ru-R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ru-RU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Это меньше, чем потери от удаления токена «_</a:t>
                </a:r>
                <a:r>
                  <a:rPr lang="ru-RU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чест</a:t>
                </a:r>
                <a:r>
                  <a:rPr lang="ru-RU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», значит удаляем </a:t>
                </a:r>
                <a:r>
                  <a:rPr lang="ru-RU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токен</a:t>
                </a:r>
                <a:r>
                  <a:rPr lang="ru-RU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«</a:t>
                </a:r>
                <a:r>
                  <a:rPr lang="ru-RU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ых</a:t>
                </a:r>
                <a:r>
                  <a:rPr lang="ru-RU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»</a:t>
                </a:r>
                <a:endParaRPr lang="ru-R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4" name="Прямоугольник 4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136690"/>
                <a:ext cx="8986306" cy="1477328"/>
              </a:xfrm>
              <a:prstGeom prst="rect">
                <a:avLst/>
              </a:prstGeom>
              <a:blipFill rotWithShape="0">
                <a:blip r:embed="rId3"/>
                <a:stretch>
                  <a:fillRect l="-611" t="-2058" b="-535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TextBox 41"/>
          <p:cNvSpPr txBox="1"/>
          <p:nvPr/>
        </p:nvSpPr>
        <p:spPr>
          <a:xfrm>
            <a:off x="1546472" y="3042360"/>
            <a:ext cx="10230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_</a:t>
            </a:r>
            <a:r>
              <a:rPr lang="ru-RU" dirty="0" err="1" smtClean="0"/>
              <a:t>чест</a:t>
            </a:r>
            <a:r>
              <a:rPr lang="ru-RU" dirty="0" smtClean="0"/>
              <a:t> (1)</a:t>
            </a:r>
            <a:endParaRPr lang="ru-RU" dirty="0"/>
          </a:p>
        </p:txBody>
      </p:sp>
      <p:sp>
        <p:nvSpPr>
          <p:cNvPr id="43" name="TextBox 42"/>
          <p:cNvSpPr txBox="1"/>
          <p:nvPr/>
        </p:nvSpPr>
        <p:spPr>
          <a:xfrm>
            <a:off x="1581739" y="4220530"/>
            <a:ext cx="9525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>
                    <a:lumMod val="75000"/>
                  </a:schemeClr>
                </a:solidFill>
              </a:rPr>
              <a:t>_че (12)</a:t>
            </a:r>
            <a:endParaRPr lang="ru-RU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653032" y="5417652"/>
            <a:ext cx="8370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>
                    <a:lumMod val="75000"/>
                  </a:schemeClr>
                </a:solidFill>
              </a:rPr>
              <a:t>_ч (47)</a:t>
            </a:r>
            <a:endParaRPr lang="ru-RU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7588892" y="3855494"/>
            <a:ext cx="85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>
                    <a:lumMod val="75000"/>
                  </a:schemeClr>
                </a:solidFill>
              </a:rPr>
              <a:t>н</a:t>
            </a:r>
            <a:r>
              <a:rPr lang="ru-RU" dirty="0" smtClean="0">
                <a:solidFill>
                  <a:schemeClr val="bg1">
                    <a:lumMod val="75000"/>
                  </a:schemeClr>
                </a:solidFill>
              </a:rPr>
              <a:t> (943)</a:t>
            </a:r>
            <a:endParaRPr lang="ru-RU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3899103" y="3596358"/>
            <a:ext cx="917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err="1">
                <a:solidFill>
                  <a:schemeClr val="bg1">
                    <a:lumMod val="75000"/>
                  </a:schemeClr>
                </a:solidFill>
              </a:rPr>
              <a:t>с</a:t>
            </a:r>
            <a:r>
              <a:rPr lang="ru-RU" dirty="0" err="1" smtClean="0">
                <a:solidFill>
                  <a:schemeClr val="bg1">
                    <a:lumMod val="75000"/>
                  </a:schemeClr>
                </a:solidFill>
              </a:rPr>
              <a:t>т</a:t>
            </a:r>
            <a:r>
              <a:rPr lang="ru-RU" dirty="0" smtClean="0">
                <a:solidFill>
                  <a:schemeClr val="bg1">
                    <a:lumMod val="75000"/>
                  </a:schemeClr>
                </a:solidFill>
              </a:rPr>
              <a:t> (130)</a:t>
            </a:r>
            <a:endParaRPr lang="ru-RU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3238741" y="4611199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>
                    <a:lumMod val="75000"/>
                  </a:schemeClr>
                </a:solidFill>
              </a:rPr>
              <a:t>с</a:t>
            </a:r>
            <a:r>
              <a:rPr lang="ru-RU" dirty="0" smtClean="0">
                <a:solidFill>
                  <a:schemeClr val="bg1">
                    <a:lumMod val="75000"/>
                  </a:schemeClr>
                </a:solidFill>
              </a:rPr>
              <a:t> (530)</a:t>
            </a:r>
            <a:endParaRPr lang="ru-RU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4681688" y="4603043"/>
            <a:ext cx="819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>
                    <a:lumMod val="75000"/>
                  </a:schemeClr>
                </a:solidFill>
              </a:rPr>
              <a:t>т</a:t>
            </a:r>
            <a:r>
              <a:rPr lang="ru-RU" dirty="0" smtClean="0">
                <a:solidFill>
                  <a:schemeClr val="bg1">
                    <a:lumMod val="75000"/>
                  </a:schemeClr>
                </a:solidFill>
              </a:rPr>
              <a:t> (785)</a:t>
            </a:r>
            <a:endParaRPr lang="ru-RU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2900650" y="5416425"/>
            <a:ext cx="9621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>
                    <a:lumMod val="75000"/>
                  </a:schemeClr>
                </a:solidFill>
              </a:rPr>
              <a:t>е (1339)</a:t>
            </a:r>
            <a:endParaRPr lang="ru-RU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9062768" y="4623410"/>
            <a:ext cx="883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>
                    <a:lumMod val="75000"/>
                  </a:schemeClr>
                </a:solidFill>
              </a:rPr>
              <a:t>ы</a:t>
            </a:r>
            <a:r>
              <a:rPr lang="ru-RU" dirty="0" smtClean="0">
                <a:solidFill>
                  <a:schemeClr val="bg1">
                    <a:lumMod val="75000"/>
                  </a:schemeClr>
                </a:solidFill>
              </a:rPr>
              <a:t> (385)</a:t>
            </a:r>
            <a:endParaRPr lang="ru-RU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10056165" y="4623410"/>
            <a:ext cx="829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>
                    <a:lumMod val="75000"/>
                  </a:schemeClr>
                </a:solidFill>
              </a:rPr>
              <a:t>х</a:t>
            </a:r>
            <a:r>
              <a:rPr lang="ru-RU" dirty="0" smtClean="0">
                <a:solidFill>
                  <a:schemeClr val="bg1">
                    <a:lumMod val="75000"/>
                  </a:schemeClr>
                </a:solidFill>
              </a:rPr>
              <a:t> (148)</a:t>
            </a:r>
            <a:endParaRPr lang="ru-RU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9259422" y="3227026"/>
            <a:ext cx="865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err="1">
                <a:solidFill>
                  <a:srgbClr val="FF0000"/>
                </a:solidFill>
              </a:rPr>
              <a:t>ы</a:t>
            </a:r>
            <a:r>
              <a:rPr lang="ru-RU" dirty="0" err="1" smtClean="0">
                <a:solidFill>
                  <a:srgbClr val="FF0000"/>
                </a:solidFill>
              </a:rPr>
              <a:t>х</a:t>
            </a:r>
            <a:r>
              <a:rPr lang="ru-RU" dirty="0" smtClean="0">
                <a:solidFill>
                  <a:srgbClr val="FF0000"/>
                </a:solidFill>
              </a:rPr>
              <a:t> (47)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7796215" y="5426724"/>
            <a:ext cx="10070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err="1"/>
              <a:t>н</a:t>
            </a:r>
            <a:r>
              <a:rPr lang="ru-RU" dirty="0" err="1" smtClean="0"/>
              <a:t>ы</a:t>
            </a:r>
            <a:r>
              <a:rPr lang="ru-RU" dirty="0" smtClean="0"/>
              <a:t> (136)</a:t>
            </a:r>
            <a:endParaRPr lang="ru-RU" dirty="0"/>
          </a:p>
        </p:txBody>
      </p:sp>
      <p:sp>
        <p:nvSpPr>
          <p:cNvPr id="68" name="TextBox 67"/>
          <p:cNvSpPr txBox="1"/>
          <p:nvPr/>
        </p:nvSpPr>
        <p:spPr>
          <a:xfrm>
            <a:off x="9428699" y="5449499"/>
            <a:ext cx="829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х</a:t>
            </a:r>
            <a:r>
              <a:rPr lang="ru-RU" dirty="0" smtClean="0"/>
              <a:t> (148)</a:t>
            </a:r>
            <a:endParaRPr lang="ru-RU" dirty="0"/>
          </a:p>
        </p:txBody>
      </p:sp>
      <p:sp>
        <p:nvSpPr>
          <p:cNvPr id="70" name="TextBox 69"/>
          <p:cNvSpPr txBox="1"/>
          <p:nvPr/>
        </p:nvSpPr>
        <p:spPr>
          <a:xfrm>
            <a:off x="4312837" y="6104923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>
                    <a:lumMod val="75000"/>
                  </a:schemeClr>
                </a:solidFill>
              </a:rPr>
              <a:t>с</a:t>
            </a:r>
            <a:r>
              <a:rPr lang="ru-RU" dirty="0" smtClean="0">
                <a:solidFill>
                  <a:schemeClr val="bg1">
                    <a:lumMod val="75000"/>
                  </a:schemeClr>
                </a:solidFill>
              </a:rPr>
              <a:t> (530)</a:t>
            </a:r>
            <a:endParaRPr lang="ru-RU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4681688" y="5380838"/>
            <a:ext cx="917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err="1">
                <a:solidFill>
                  <a:schemeClr val="bg1">
                    <a:lumMod val="75000"/>
                  </a:schemeClr>
                </a:solidFill>
              </a:rPr>
              <a:t>с</a:t>
            </a:r>
            <a:r>
              <a:rPr lang="ru-RU" dirty="0" err="1" smtClean="0">
                <a:solidFill>
                  <a:schemeClr val="bg1">
                    <a:lumMod val="75000"/>
                  </a:schemeClr>
                </a:solidFill>
              </a:rPr>
              <a:t>т</a:t>
            </a:r>
            <a:r>
              <a:rPr lang="ru-RU" dirty="0" smtClean="0">
                <a:solidFill>
                  <a:schemeClr val="bg1">
                    <a:lumMod val="75000"/>
                  </a:schemeClr>
                </a:solidFill>
              </a:rPr>
              <a:t> (130)</a:t>
            </a:r>
            <a:endParaRPr lang="ru-RU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5247415" y="6104923"/>
            <a:ext cx="819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>
                    <a:lumMod val="75000"/>
                  </a:schemeClr>
                </a:solidFill>
              </a:rPr>
              <a:t>т</a:t>
            </a:r>
            <a:r>
              <a:rPr lang="ru-RU" dirty="0" smtClean="0">
                <a:solidFill>
                  <a:schemeClr val="bg1">
                    <a:lumMod val="75000"/>
                  </a:schemeClr>
                </a:solidFill>
              </a:rPr>
              <a:t> (785)</a:t>
            </a:r>
            <a:endParaRPr lang="ru-RU" dirty="0">
              <a:solidFill>
                <a:schemeClr val="bg1">
                  <a:lumMod val="75000"/>
                </a:schemeClr>
              </a:solidFill>
            </a:endParaRPr>
          </a:p>
        </p:txBody>
      </p:sp>
      <p:cxnSp>
        <p:nvCxnSpPr>
          <p:cNvPr id="75" name="Прямая со стрелкой 74"/>
          <p:cNvCxnSpPr>
            <a:stCxn id="42" idx="3"/>
          </p:cNvCxnSpPr>
          <p:nvPr/>
        </p:nvCxnSpPr>
        <p:spPr>
          <a:xfrm>
            <a:off x="2569509" y="3227026"/>
            <a:ext cx="4850194" cy="553998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Прямая со стрелкой 75"/>
          <p:cNvCxnSpPr/>
          <p:nvPr/>
        </p:nvCxnSpPr>
        <p:spPr>
          <a:xfrm flipV="1">
            <a:off x="2560105" y="3855494"/>
            <a:ext cx="1218153" cy="549702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Прямая со стрелкой 77"/>
          <p:cNvCxnSpPr/>
          <p:nvPr/>
        </p:nvCxnSpPr>
        <p:spPr>
          <a:xfrm>
            <a:off x="2569509" y="3227026"/>
            <a:ext cx="5085325" cy="233847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Прямая со стрелкой 78"/>
          <p:cNvCxnSpPr>
            <a:stCxn id="51" idx="3"/>
          </p:cNvCxnSpPr>
          <p:nvPr/>
        </p:nvCxnSpPr>
        <p:spPr>
          <a:xfrm>
            <a:off x="4816342" y="3781024"/>
            <a:ext cx="2603361" cy="269419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Прямая со стрелкой 100"/>
          <p:cNvCxnSpPr/>
          <p:nvPr/>
        </p:nvCxnSpPr>
        <p:spPr>
          <a:xfrm>
            <a:off x="4816342" y="3856693"/>
            <a:ext cx="2809358" cy="1559732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Прямая со стрелкой 101"/>
          <p:cNvCxnSpPr>
            <a:endCxn id="70" idx="1"/>
          </p:cNvCxnSpPr>
          <p:nvPr/>
        </p:nvCxnSpPr>
        <p:spPr>
          <a:xfrm>
            <a:off x="3518263" y="5818831"/>
            <a:ext cx="794574" cy="470758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Прямая со стрелкой 102"/>
          <p:cNvCxnSpPr>
            <a:stCxn id="45" idx="3"/>
            <a:endCxn id="58" idx="1"/>
          </p:cNvCxnSpPr>
          <p:nvPr/>
        </p:nvCxnSpPr>
        <p:spPr>
          <a:xfrm flipV="1">
            <a:off x="2490121" y="5601091"/>
            <a:ext cx="410529" cy="1227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Прямая со стрелкой 103"/>
          <p:cNvCxnSpPr>
            <a:stCxn id="53" idx="3"/>
            <a:endCxn id="56" idx="1"/>
          </p:cNvCxnSpPr>
          <p:nvPr/>
        </p:nvCxnSpPr>
        <p:spPr>
          <a:xfrm flipV="1">
            <a:off x="4066212" y="4787709"/>
            <a:ext cx="615476" cy="8156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Прямая со стрелкой 104"/>
          <p:cNvCxnSpPr>
            <a:endCxn id="72" idx="1"/>
          </p:cNvCxnSpPr>
          <p:nvPr/>
        </p:nvCxnSpPr>
        <p:spPr>
          <a:xfrm flipV="1">
            <a:off x="3829519" y="5565504"/>
            <a:ext cx="852169" cy="20651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Прямая со стрелкой 105"/>
          <p:cNvCxnSpPr>
            <a:endCxn id="74" idx="1"/>
          </p:cNvCxnSpPr>
          <p:nvPr/>
        </p:nvCxnSpPr>
        <p:spPr>
          <a:xfrm flipV="1">
            <a:off x="5077855" y="6289589"/>
            <a:ext cx="169560" cy="17274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Прямая со стрелкой 106"/>
          <p:cNvCxnSpPr/>
          <p:nvPr/>
        </p:nvCxnSpPr>
        <p:spPr>
          <a:xfrm flipV="1">
            <a:off x="5552087" y="4245981"/>
            <a:ext cx="1867616" cy="1306797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Прямая со стрелкой 107"/>
          <p:cNvCxnSpPr/>
          <p:nvPr/>
        </p:nvCxnSpPr>
        <p:spPr>
          <a:xfrm flipV="1">
            <a:off x="6071485" y="4385067"/>
            <a:ext cx="1435304" cy="1870857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Прямая со стрелкой 108"/>
          <p:cNvCxnSpPr>
            <a:endCxn id="53" idx="1"/>
          </p:cNvCxnSpPr>
          <p:nvPr/>
        </p:nvCxnSpPr>
        <p:spPr>
          <a:xfrm>
            <a:off x="2515933" y="4454955"/>
            <a:ext cx="722808" cy="34091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Прямая со стрелкой 109"/>
          <p:cNvCxnSpPr/>
          <p:nvPr/>
        </p:nvCxnSpPr>
        <p:spPr>
          <a:xfrm flipV="1">
            <a:off x="5443359" y="4164814"/>
            <a:ext cx="1976344" cy="601913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Прямая со стрелкой 110"/>
          <p:cNvCxnSpPr/>
          <p:nvPr/>
        </p:nvCxnSpPr>
        <p:spPr>
          <a:xfrm>
            <a:off x="5571955" y="5603076"/>
            <a:ext cx="2076215" cy="76799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Прямая со стрелкой 111"/>
          <p:cNvCxnSpPr/>
          <p:nvPr/>
        </p:nvCxnSpPr>
        <p:spPr>
          <a:xfrm>
            <a:off x="5443359" y="4829722"/>
            <a:ext cx="2191745" cy="798725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Прямая со стрелкой 112"/>
          <p:cNvCxnSpPr/>
          <p:nvPr/>
        </p:nvCxnSpPr>
        <p:spPr>
          <a:xfrm flipV="1">
            <a:off x="6066870" y="5750170"/>
            <a:ext cx="1558830" cy="568749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Прямая со стрелкой 114"/>
          <p:cNvCxnSpPr>
            <a:endCxn id="60" idx="1"/>
          </p:cNvCxnSpPr>
          <p:nvPr/>
        </p:nvCxnSpPr>
        <p:spPr>
          <a:xfrm>
            <a:off x="8442011" y="4116876"/>
            <a:ext cx="620757" cy="69120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Прямая со стрелкой 115"/>
          <p:cNvCxnSpPr>
            <a:endCxn id="68" idx="1"/>
          </p:cNvCxnSpPr>
          <p:nvPr/>
        </p:nvCxnSpPr>
        <p:spPr>
          <a:xfrm>
            <a:off x="8766266" y="5622098"/>
            <a:ext cx="662433" cy="1206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Прямая со стрелкой 116"/>
          <p:cNvCxnSpPr/>
          <p:nvPr/>
        </p:nvCxnSpPr>
        <p:spPr>
          <a:xfrm flipV="1">
            <a:off x="10236261" y="5020089"/>
            <a:ext cx="1537728" cy="5913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Прямая со стрелкой 118"/>
          <p:cNvCxnSpPr/>
          <p:nvPr/>
        </p:nvCxnSpPr>
        <p:spPr>
          <a:xfrm flipV="1">
            <a:off x="9872533" y="4829722"/>
            <a:ext cx="215683" cy="7948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Прямая со стрелкой 119"/>
          <p:cNvCxnSpPr/>
          <p:nvPr/>
        </p:nvCxnSpPr>
        <p:spPr>
          <a:xfrm>
            <a:off x="10893947" y="4795865"/>
            <a:ext cx="865678" cy="103514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Заголовок 1"/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 smtClean="0"/>
              <a:t>Unigram</a:t>
            </a:r>
            <a:r>
              <a:rPr lang="ru-RU" dirty="0" smtClean="0"/>
              <a:t>: обучение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32664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C8664-78E5-4C8A-950D-AE5D980E4814}" type="slidenum">
              <a:rPr lang="ru-RU" smtClean="0"/>
              <a:t>20</a:t>
            </a:fld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243840" y="2224261"/>
            <a:ext cx="11399519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lv-LV" b="1" dirty="0">
                <a:latin typeface="Consolas" panose="020B0609020204030204" pitchFamily="49" charset="0"/>
              </a:rPr>
              <a:t>BPE:</a:t>
            </a:r>
          </a:p>
          <a:p>
            <a:r>
              <a:rPr lang="lv-LV" dirty="0">
                <a:latin typeface="Consolas" panose="020B0609020204030204" pitchFamily="49" charset="0"/>
              </a:rPr>
              <a:t>  </a:t>
            </a:r>
            <a:r>
              <a:rPr lang="lv-LV" sz="1600" dirty="0">
                <a:latin typeface="Consolas" panose="020B0609020204030204" pitchFamily="49" charset="0"/>
              </a:rPr>
              <a:t>Tokens: ['ĠÐ¼Ð¾Ð¸', 'ĠÐ´', 'ÑıÐ´', 'Ñı', 'ĠÑģÐ°Ð¼', 'ÑĭÑħ', 'ĠÑĩ', 'ÐµÑģÑĤ', 'Ð½ÑĭÑħ', 'ĠÐ¿ÑĢÐ°Ð²', 'Ð¸Ð</a:t>
            </a:r>
            <a:r>
              <a:rPr lang="lv-LV" sz="1600" dirty="0" smtClean="0">
                <a:latin typeface="Consolas" panose="020B0609020204030204" pitchFamily="49" charset="0"/>
              </a:rPr>
              <a:t>»']</a:t>
            </a:r>
            <a:endParaRPr lang="ru-RU" sz="1600" dirty="0" smtClean="0">
              <a:latin typeface="Consolas" panose="020B0609020204030204" pitchFamily="49" charset="0"/>
            </a:endParaRPr>
          </a:p>
          <a:p>
            <a:endParaRPr lang="lv-LV" sz="1600" dirty="0">
              <a:latin typeface="Consolas" panose="020B0609020204030204" pitchFamily="49" charset="0"/>
            </a:endParaRPr>
          </a:p>
          <a:p>
            <a:r>
              <a:rPr lang="lv-LV" sz="1600" dirty="0">
                <a:latin typeface="Consolas" panose="020B0609020204030204" pitchFamily="49" charset="0"/>
              </a:rPr>
              <a:t>  Token Count: 11</a:t>
            </a:r>
          </a:p>
          <a:p>
            <a:endParaRPr lang="lv-LV" dirty="0">
              <a:latin typeface="Consolas" panose="020B0609020204030204" pitchFamily="49" charset="0"/>
            </a:endParaRPr>
          </a:p>
          <a:p>
            <a:r>
              <a:rPr lang="lv-LV" b="1" dirty="0">
                <a:latin typeface="Consolas" panose="020B0609020204030204" pitchFamily="49" charset="0"/>
              </a:rPr>
              <a:t>WordPiece:</a:t>
            </a:r>
          </a:p>
          <a:p>
            <a:r>
              <a:rPr lang="lv-LV" dirty="0">
                <a:latin typeface="Consolas" panose="020B0609020204030204" pitchFamily="49" charset="0"/>
              </a:rPr>
              <a:t>  </a:t>
            </a:r>
            <a:r>
              <a:rPr lang="lv-LV" sz="1600" dirty="0">
                <a:latin typeface="Consolas" panose="020B0609020204030204" pitchFamily="49" charset="0"/>
              </a:rPr>
              <a:t>Tokens: ['</a:t>
            </a:r>
            <a:r>
              <a:rPr lang="ru-RU" sz="1600" dirty="0">
                <a:latin typeface="Consolas" panose="020B0609020204030204" pitchFamily="49" charset="0"/>
              </a:rPr>
              <a:t>мои', 'д', '##я', '##</a:t>
            </a:r>
            <a:r>
              <a:rPr lang="ru-RU" sz="1600" dirty="0" err="1">
                <a:latin typeface="Consolas" panose="020B0609020204030204" pitchFamily="49" charset="0"/>
              </a:rPr>
              <a:t>дя</a:t>
            </a:r>
            <a:r>
              <a:rPr lang="ru-RU" sz="1600" dirty="0">
                <a:latin typeface="Consolas" panose="020B0609020204030204" pitchFamily="49" charset="0"/>
              </a:rPr>
              <a:t>', 'сам', '##</a:t>
            </a:r>
            <a:r>
              <a:rPr lang="ru-RU" sz="1600" dirty="0" err="1">
                <a:latin typeface="Consolas" panose="020B0609020204030204" pitchFamily="49" charset="0"/>
              </a:rPr>
              <a:t>ых</a:t>
            </a:r>
            <a:r>
              <a:rPr lang="ru-RU" sz="1600" dirty="0">
                <a:latin typeface="Consolas" panose="020B0609020204030204" pitchFamily="49" charset="0"/>
              </a:rPr>
              <a:t>', 'ч', '##ест', '##</a:t>
            </a:r>
            <a:r>
              <a:rPr lang="ru-RU" sz="1600" dirty="0" err="1">
                <a:latin typeface="Consolas" panose="020B0609020204030204" pitchFamily="49" charset="0"/>
              </a:rPr>
              <a:t>ных</a:t>
            </a:r>
            <a:r>
              <a:rPr lang="ru-RU" sz="1600" dirty="0">
                <a:latin typeface="Consolas" panose="020B0609020204030204" pitchFamily="49" charset="0"/>
              </a:rPr>
              <a:t>', '</a:t>
            </a:r>
            <a:r>
              <a:rPr lang="ru-RU" sz="1600" dirty="0" err="1">
                <a:latin typeface="Consolas" panose="020B0609020204030204" pitchFamily="49" charset="0"/>
              </a:rPr>
              <a:t>пра</a:t>
            </a:r>
            <a:r>
              <a:rPr lang="ru-RU" sz="1600" dirty="0">
                <a:latin typeface="Consolas" panose="020B0609020204030204" pitchFamily="49" charset="0"/>
              </a:rPr>
              <a:t>', '##</a:t>
            </a:r>
            <a:r>
              <a:rPr lang="ru-RU" sz="1600" dirty="0" err="1">
                <a:latin typeface="Consolas" panose="020B0609020204030204" pitchFamily="49" charset="0"/>
              </a:rPr>
              <a:t>ви</a:t>
            </a:r>
            <a:r>
              <a:rPr lang="ru-RU" sz="1600" dirty="0">
                <a:latin typeface="Consolas" panose="020B0609020204030204" pitchFamily="49" charset="0"/>
              </a:rPr>
              <a:t>', '##л']</a:t>
            </a:r>
          </a:p>
          <a:p>
            <a:r>
              <a:rPr lang="ru-RU" sz="1600" dirty="0">
                <a:latin typeface="Consolas" panose="020B0609020204030204" pitchFamily="49" charset="0"/>
              </a:rPr>
              <a:t>  </a:t>
            </a:r>
            <a:endParaRPr lang="ru-RU" sz="1600" dirty="0" smtClean="0">
              <a:latin typeface="Consolas" panose="020B0609020204030204" pitchFamily="49" charset="0"/>
            </a:endParaRPr>
          </a:p>
          <a:p>
            <a:r>
              <a:rPr lang="ru-RU" sz="1600" dirty="0" smtClean="0">
                <a:latin typeface="Consolas" panose="020B0609020204030204" pitchFamily="49" charset="0"/>
              </a:rPr>
              <a:t>  </a:t>
            </a:r>
            <a:r>
              <a:rPr lang="lv-LV" sz="1600" dirty="0" smtClean="0">
                <a:latin typeface="Consolas" panose="020B0609020204030204" pitchFamily="49" charset="0"/>
              </a:rPr>
              <a:t>Token </a:t>
            </a:r>
            <a:r>
              <a:rPr lang="lv-LV" sz="1600" dirty="0">
                <a:latin typeface="Consolas" panose="020B0609020204030204" pitchFamily="49" charset="0"/>
              </a:rPr>
              <a:t>Count: 12</a:t>
            </a:r>
          </a:p>
          <a:p>
            <a:endParaRPr lang="lv-LV" dirty="0">
              <a:latin typeface="Consolas" panose="020B0609020204030204" pitchFamily="49" charset="0"/>
            </a:endParaRPr>
          </a:p>
          <a:p>
            <a:r>
              <a:rPr lang="lv-LV" b="1" dirty="0">
                <a:latin typeface="Consolas" panose="020B0609020204030204" pitchFamily="49" charset="0"/>
              </a:rPr>
              <a:t>Unigram:</a:t>
            </a:r>
          </a:p>
          <a:p>
            <a:r>
              <a:rPr lang="lv-LV" dirty="0">
                <a:latin typeface="Consolas" panose="020B0609020204030204" pitchFamily="49" charset="0"/>
              </a:rPr>
              <a:t>  </a:t>
            </a:r>
            <a:r>
              <a:rPr lang="lv-LV" sz="1600" dirty="0">
                <a:latin typeface="Consolas" panose="020B0609020204030204" pitchFamily="49" charset="0"/>
              </a:rPr>
              <a:t>Tokens: ['▁</a:t>
            </a:r>
            <a:r>
              <a:rPr lang="ru-RU" sz="1600" dirty="0" err="1">
                <a:latin typeface="Consolas" panose="020B0609020204030204" pitchFamily="49" charset="0"/>
              </a:rPr>
              <a:t>мо</a:t>
            </a:r>
            <a:r>
              <a:rPr lang="ru-RU" sz="1600" dirty="0">
                <a:latin typeface="Consolas" panose="020B0609020204030204" pitchFamily="49" charset="0"/>
              </a:rPr>
              <a:t>', 'и', '▁д', 'я', 'д', 'я', '▁сам', '</a:t>
            </a:r>
            <a:r>
              <a:rPr lang="ru-RU" sz="1600" dirty="0" err="1">
                <a:latin typeface="Consolas" panose="020B0609020204030204" pitchFamily="49" charset="0"/>
              </a:rPr>
              <a:t>ых</a:t>
            </a:r>
            <a:r>
              <a:rPr lang="ru-RU" sz="1600" dirty="0">
                <a:latin typeface="Consolas" panose="020B0609020204030204" pitchFamily="49" charset="0"/>
              </a:rPr>
              <a:t>', '▁', 'че', '</a:t>
            </a:r>
            <a:r>
              <a:rPr lang="ru-RU" sz="1600" dirty="0" err="1">
                <a:latin typeface="Consolas" panose="020B0609020204030204" pitchFamily="49" charset="0"/>
              </a:rPr>
              <a:t>ст</a:t>
            </a:r>
            <a:r>
              <a:rPr lang="ru-RU" sz="1600" dirty="0">
                <a:latin typeface="Consolas" panose="020B0609020204030204" pitchFamily="49" charset="0"/>
              </a:rPr>
              <a:t>', '</a:t>
            </a:r>
            <a:r>
              <a:rPr lang="ru-RU" sz="1600" dirty="0" err="1">
                <a:latin typeface="Consolas" panose="020B0609020204030204" pitchFamily="49" charset="0"/>
              </a:rPr>
              <a:t>ных</a:t>
            </a:r>
            <a:r>
              <a:rPr lang="ru-RU" sz="1600" dirty="0">
                <a:latin typeface="Consolas" panose="020B0609020204030204" pitchFamily="49" charset="0"/>
              </a:rPr>
              <a:t>', '▁прав', 'ил</a:t>
            </a:r>
            <a:r>
              <a:rPr lang="ru-RU" sz="1600" dirty="0" smtClean="0">
                <a:latin typeface="Consolas" panose="020B0609020204030204" pitchFamily="49" charset="0"/>
              </a:rPr>
              <a:t>']</a:t>
            </a:r>
          </a:p>
          <a:p>
            <a:endParaRPr lang="ru-RU" sz="1600" dirty="0">
              <a:latin typeface="Consolas" panose="020B0609020204030204" pitchFamily="49" charset="0"/>
            </a:endParaRPr>
          </a:p>
          <a:p>
            <a:r>
              <a:rPr lang="ru-RU" sz="1600" dirty="0">
                <a:latin typeface="Consolas" panose="020B0609020204030204" pitchFamily="49" charset="0"/>
              </a:rPr>
              <a:t>  </a:t>
            </a:r>
            <a:r>
              <a:rPr lang="lv-LV" sz="1600" dirty="0">
                <a:latin typeface="Consolas" panose="020B0609020204030204" pitchFamily="49" charset="0"/>
              </a:rPr>
              <a:t>Token Count: 14</a:t>
            </a:r>
            <a:endParaRPr lang="ru-RU" sz="1400" dirty="0"/>
          </a:p>
        </p:txBody>
      </p:sp>
      <p:sp>
        <p:nvSpPr>
          <p:cNvPr id="4" name="TextBox 3"/>
          <p:cNvSpPr txBox="1"/>
          <p:nvPr/>
        </p:nvSpPr>
        <p:spPr>
          <a:xfrm>
            <a:off x="243840" y="1507807"/>
            <a:ext cx="10711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«Мой дядя самых честных правил»</a:t>
            </a:r>
            <a:endParaRPr lang="ru-RU" dirty="0"/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243840" y="366910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ru-RU" dirty="0" smtClean="0"/>
              <a:t>Сравнение </a:t>
            </a:r>
            <a:r>
              <a:rPr lang="ru-RU" dirty="0" err="1" smtClean="0"/>
              <a:t>токенизаторов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053605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C8664-78E5-4C8A-950D-AE5D980E4814}" type="slidenum">
              <a:rPr lang="ru-RU" smtClean="0"/>
              <a:t>21</a:t>
            </a:fld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243840" y="2224261"/>
            <a:ext cx="11399519" cy="41857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lv-LV" b="1" dirty="0">
                <a:latin typeface="Consolas" panose="020B0609020204030204" pitchFamily="49" charset="0"/>
              </a:rPr>
              <a:t>BPE:</a:t>
            </a:r>
          </a:p>
          <a:p>
            <a:r>
              <a:rPr lang="lv-LV" sz="1600" dirty="0">
                <a:latin typeface="Consolas" panose="020B0609020204030204" pitchFamily="49" charset="0"/>
              </a:rPr>
              <a:t>  Tokens: ['ĠÑģ', 'ÑĥÐ´', 'ÐµÐ¸', 'ĠÑĢÐµÑĪ', 'Ð¸ÑĤÐµÐ»ÑĮ', 'Ð½ÑĭÑħ', 'ĠÐ¸', 'ĠÑģÑĤÑĢ', 'Ð¾Ð³', 'Ð¸Ñħ', 'Ġ', '[UNK]', 'Ł', '[UNK]', '[UNK</a:t>
            </a:r>
            <a:r>
              <a:rPr lang="lv-LV" sz="1600" dirty="0" smtClean="0">
                <a:latin typeface="Consolas" panose="020B0609020204030204" pitchFamily="49" charset="0"/>
              </a:rPr>
              <a:t>]']</a:t>
            </a:r>
            <a:endParaRPr lang="ru-RU" sz="1600" dirty="0" smtClean="0">
              <a:latin typeface="Consolas" panose="020B0609020204030204" pitchFamily="49" charset="0"/>
            </a:endParaRPr>
          </a:p>
          <a:p>
            <a:endParaRPr lang="lv-LV" sz="1600" dirty="0">
              <a:latin typeface="Consolas" panose="020B0609020204030204" pitchFamily="49" charset="0"/>
            </a:endParaRPr>
          </a:p>
          <a:p>
            <a:r>
              <a:rPr lang="lv-LV" sz="1600" dirty="0">
                <a:latin typeface="Consolas" panose="020B0609020204030204" pitchFamily="49" charset="0"/>
              </a:rPr>
              <a:t>  Token Count: 15</a:t>
            </a:r>
          </a:p>
          <a:p>
            <a:endParaRPr lang="lv-LV" b="1" dirty="0">
              <a:latin typeface="Consolas" panose="020B0609020204030204" pitchFamily="49" charset="0"/>
            </a:endParaRPr>
          </a:p>
          <a:p>
            <a:r>
              <a:rPr lang="lv-LV" b="1" dirty="0">
                <a:latin typeface="Consolas" panose="020B0609020204030204" pitchFamily="49" charset="0"/>
              </a:rPr>
              <a:t>WordPiece:</a:t>
            </a:r>
          </a:p>
          <a:p>
            <a:r>
              <a:rPr lang="lv-LV" sz="1600" dirty="0">
                <a:latin typeface="Consolas" panose="020B0609020204030204" pitchFamily="49" charset="0"/>
              </a:rPr>
              <a:t>  Tokens: ['</a:t>
            </a:r>
            <a:r>
              <a:rPr lang="ru-RU" sz="1600" dirty="0">
                <a:latin typeface="Consolas" panose="020B0609020204030204" pitchFamily="49" charset="0"/>
              </a:rPr>
              <a:t>су', '##</a:t>
            </a:r>
            <a:r>
              <a:rPr lang="ru-RU" sz="1600" dirty="0" err="1">
                <a:latin typeface="Consolas" panose="020B0609020204030204" pitchFamily="49" charset="0"/>
              </a:rPr>
              <a:t>деи</a:t>
            </a:r>
            <a:r>
              <a:rPr lang="ru-RU" sz="1600" dirty="0">
                <a:latin typeface="Consolas" panose="020B0609020204030204" pitchFamily="49" charset="0"/>
              </a:rPr>
              <a:t>', 'ре', '##ши', '##</a:t>
            </a:r>
            <a:r>
              <a:rPr lang="ru-RU" sz="1600" dirty="0" err="1">
                <a:latin typeface="Consolas" panose="020B0609020204030204" pitchFamily="49" charset="0"/>
              </a:rPr>
              <a:t>тель</a:t>
            </a:r>
            <a:r>
              <a:rPr lang="ru-RU" sz="1600" dirty="0">
                <a:latin typeface="Consolas" panose="020B0609020204030204" pitchFamily="49" charset="0"/>
              </a:rPr>
              <a:t>', '##</a:t>
            </a:r>
            <a:r>
              <a:rPr lang="ru-RU" sz="1600" dirty="0" err="1">
                <a:latin typeface="Consolas" panose="020B0609020204030204" pitchFamily="49" charset="0"/>
              </a:rPr>
              <a:t>ных</a:t>
            </a:r>
            <a:r>
              <a:rPr lang="ru-RU" sz="1600" dirty="0">
                <a:latin typeface="Consolas" panose="020B0609020204030204" pitchFamily="49" charset="0"/>
              </a:rPr>
              <a:t>', 'и', '</a:t>
            </a:r>
            <a:r>
              <a:rPr lang="ru-RU" sz="1600" dirty="0" err="1">
                <a:latin typeface="Consolas" panose="020B0609020204030204" pitchFamily="49" charset="0"/>
              </a:rPr>
              <a:t>ст</a:t>
            </a:r>
            <a:r>
              <a:rPr lang="ru-RU" sz="1600" dirty="0">
                <a:latin typeface="Consolas" panose="020B0609020204030204" pitchFamily="49" charset="0"/>
              </a:rPr>
              <a:t>', '##</a:t>
            </a:r>
            <a:r>
              <a:rPr lang="ru-RU" sz="1600" dirty="0" err="1">
                <a:latin typeface="Consolas" panose="020B0609020204030204" pitchFamily="49" charset="0"/>
              </a:rPr>
              <a:t>ро</a:t>
            </a:r>
            <a:r>
              <a:rPr lang="ru-RU" sz="1600" dirty="0">
                <a:latin typeface="Consolas" panose="020B0609020204030204" pitchFamily="49" charset="0"/>
              </a:rPr>
              <a:t>', '##</a:t>
            </a:r>
            <a:r>
              <a:rPr lang="ru-RU" sz="1600" dirty="0" err="1">
                <a:latin typeface="Consolas" panose="020B0609020204030204" pitchFamily="49" charset="0"/>
              </a:rPr>
              <a:t>ги</a:t>
            </a:r>
            <a:r>
              <a:rPr lang="ru-RU" sz="1600" dirty="0">
                <a:latin typeface="Consolas" panose="020B0609020204030204" pitchFamily="49" charset="0"/>
              </a:rPr>
              <a:t>', '##х', '[</a:t>
            </a:r>
            <a:r>
              <a:rPr lang="lv-LV" sz="1600" dirty="0">
                <a:latin typeface="Consolas" panose="020B0609020204030204" pitchFamily="49" charset="0"/>
              </a:rPr>
              <a:t>UNK</a:t>
            </a:r>
            <a:r>
              <a:rPr lang="lv-LV" sz="1600" dirty="0" smtClean="0">
                <a:latin typeface="Consolas" panose="020B0609020204030204" pitchFamily="49" charset="0"/>
              </a:rPr>
              <a:t>]']</a:t>
            </a:r>
            <a:endParaRPr lang="ru-RU" sz="1600" dirty="0" smtClean="0">
              <a:latin typeface="Consolas" panose="020B0609020204030204" pitchFamily="49" charset="0"/>
            </a:endParaRPr>
          </a:p>
          <a:p>
            <a:endParaRPr lang="lv-LV" sz="1600" dirty="0">
              <a:latin typeface="Consolas" panose="020B0609020204030204" pitchFamily="49" charset="0"/>
            </a:endParaRPr>
          </a:p>
          <a:p>
            <a:r>
              <a:rPr lang="lv-LV" sz="1600" dirty="0">
                <a:latin typeface="Consolas" panose="020B0609020204030204" pitchFamily="49" charset="0"/>
              </a:rPr>
              <a:t>  Token Count: 12</a:t>
            </a:r>
          </a:p>
          <a:p>
            <a:endParaRPr lang="lv-LV" b="1" dirty="0">
              <a:latin typeface="Consolas" panose="020B0609020204030204" pitchFamily="49" charset="0"/>
            </a:endParaRPr>
          </a:p>
          <a:p>
            <a:r>
              <a:rPr lang="lv-LV" b="1" dirty="0">
                <a:latin typeface="Consolas" panose="020B0609020204030204" pitchFamily="49" charset="0"/>
              </a:rPr>
              <a:t>Unigram:</a:t>
            </a:r>
          </a:p>
          <a:p>
            <a:r>
              <a:rPr lang="lv-LV" sz="1600" dirty="0">
                <a:latin typeface="Consolas" panose="020B0609020204030204" pitchFamily="49" charset="0"/>
              </a:rPr>
              <a:t>  Tokens: ['▁</a:t>
            </a:r>
            <a:r>
              <a:rPr lang="ru-RU" sz="1600" dirty="0">
                <a:latin typeface="Consolas" panose="020B0609020204030204" pitchFamily="49" charset="0"/>
              </a:rPr>
              <a:t>су', 'де', 'и', '▁</a:t>
            </a:r>
            <a:r>
              <a:rPr lang="ru-RU" sz="1600" dirty="0" err="1">
                <a:latin typeface="Consolas" panose="020B0609020204030204" pitchFamily="49" charset="0"/>
              </a:rPr>
              <a:t>решительн</a:t>
            </a:r>
            <a:r>
              <a:rPr lang="ru-RU" sz="1600" dirty="0">
                <a:latin typeface="Consolas" panose="020B0609020204030204" pitchFamily="49" charset="0"/>
              </a:rPr>
              <a:t>', '</a:t>
            </a:r>
            <a:r>
              <a:rPr lang="ru-RU" sz="1600" dirty="0" err="1">
                <a:latin typeface="Consolas" panose="020B0609020204030204" pitchFamily="49" charset="0"/>
              </a:rPr>
              <a:t>ых</a:t>
            </a:r>
            <a:r>
              <a:rPr lang="ru-RU" sz="1600" dirty="0">
                <a:latin typeface="Consolas" panose="020B0609020204030204" pitchFamily="49" charset="0"/>
              </a:rPr>
              <a:t>', '▁и', '▁</a:t>
            </a:r>
            <a:r>
              <a:rPr lang="ru-RU" sz="1600" dirty="0" err="1">
                <a:latin typeface="Consolas" panose="020B0609020204030204" pitchFamily="49" charset="0"/>
              </a:rPr>
              <a:t>стро</a:t>
            </a:r>
            <a:r>
              <a:rPr lang="ru-RU" sz="1600" dirty="0">
                <a:latin typeface="Consolas" panose="020B0609020204030204" pitchFamily="49" charset="0"/>
              </a:rPr>
              <a:t>', 'г', 'их', '▁', '</a:t>
            </a:r>
            <a:r>
              <a:rPr lang="lv-LV" sz="1600" dirty="0">
                <a:latin typeface="Consolas" panose="020B0609020204030204" pitchFamily="49" charset="0"/>
              </a:rPr>
              <a:t>😐</a:t>
            </a:r>
            <a:r>
              <a:rPr lang="lv-LV" sz="1600" dirty="0" smtClean="0">
                <a:latin typeface="Consolas" panose="020B0609020204030204" pitchFamily="49" charset="0"/>
              </a:rPr>
              <a:t>']</a:t>
            </a:r>
            <a:endParaRPr lang="ru-RU" sz="1600" dirty="0" smtClean="0">
              <a:latin typeface="Consolas" panose="020B0609020204030204" pitchFamily="49" charset="0"/>
            </a:endParaRPr>
          </a:p>
          <a:p>
            <a:endParaRPr lang="lv-LV" sz="1600" dirty="0">
              <a:latin typeface="Consolas" panose="020B0609020204030204" pitchFamily="49" charset="0"/>
            </a:endParaRPr>
          </a:p>
          <a:p>
            <a:r>
              <a:rPr lang="lv-LV" sz="1600" dirty="0">
                <a:latin typeface="Consolas" panose="020B0609020204030204" pitchFamily="49" charset="0"/>
              </a:rPr>
              <a:t>  Token Count: 11</a:t>
            </a:r>
            <a:endParaRPr lang="ru-RU" sz="1400" dirty="0"/>
          </a:p>
        </p:txBody>
      </p:sp>
      <p:sp>
        <p:nvSpPr>
          <p:cNvPr id="4" name="TextBox 3"/>
          <p:cNvSpPr txBox="1"/>
          <p:nvPr/>
        </p:nvSpPr>
        <p:spPr>
          <a:xfrm>
            <a:off x="243840" y="1507807"/>
            <a:ext cx="10711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«Судей решительных и строгих</a:t>
            </a:r>
            <a:r>
              <a:rPr lang="en-US" dirty="0"/>
              <a:t> </a:t>
            </a:r>
            <a:r>
              <a:rPr lang="ru-RU" dirty="0"/>
              <a:t>😐»</a:t>
            </a: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243840" y="366910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ru-RU" dirty="0" smtClean="0"/>
              <a:t>Сравнение </a:t>
            </a:r>
            <a:r>
              <a:rPr lang="ru-RU" dirty="0" err="1" smtClean="0"/>
              <a:t>токенизаторов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368220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2</a:t>
            </a:r>
            <a:r>
              <a:rPr lang="ru-RU" sz="3600" dirty="0" smtClean="0"/>
              <a:t>. Векторизация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10870064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One-Hot Encoding</a:t>
            </a:r>
            <a:endParaRPr lang="ru-RU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C8664-78E5-4C8A-950D-AE5D980E4814}" type="slidenum">
              <a:rPr lang="ru-RU" smtClean="0"/>
              <a:t>23</a:t>
            </a:fld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838200" y="1992193"/>
            <a:ext cx="6500049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Словарь: Мой, дядя, самых, честных, правил, когда, не, …</a:t>
            </a:r>
          </a:p>
          <a:p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 smtClean="0">
                <a:latin typeface="Consolas" panose="020B0609020204030204" pitchFamily="49" charset="0"/>
                <a:cs typeface="Arial" panose="020B0604020202020204" pitchFamily="34" charset="0"/>
              </a:rPr>
              <a:t>[1, 0, 0, 0, 0, 0, …, 0]</a:t>
            </a:r>
          </a:p>
          <a:p>
            <a:r>
              <a:rPr lang="en-US" sz="1600" dirty="0" smtClean="0">
                <a:latin typeface="Consolas" panose="020B0609020204030204" pitchFamily="49" charset="0"/>
                <a:cs typeface="Arial" panose="020B0604020202020204" pitchFamily="34" charset="0"/>
              </a:rPr>
              <a:t>[0, 1, 0, 0, 0, 0, …, 0]</a:t>
            </a:r>
          </a:p>
          <a:p>
            <a:r>
              <a:rPr lang="en-US" sz="1600" dirty="0" smtClean="0">
                <a:latin typeface="Consolas" panose="020B0609020204030204" pitchFamily="49" charset="0"/>
                <a:cs typeface="Arial" panose="020B0604020202020204" pitchFamily="34" charset="0"/>
              </a:rPr>
              <a:t>[0, 0, 1, 0, 0, 0, …, 0]</a:t>
            </a:r>
          </a:p>
          <a:p>
            <a:r>
              <a:rPr lang="en-US" sz="1600" dirty="0" smtClean="0">
                <a:latin typeface="Consolas" panose="020B0609020204030204" pitchFamily="49" charset="0"/>
                <a:cs typeface="Arial" panose="020B0604020202020204" pitchFamily="34" charset="0"/>
              </a:rPr>
              <a:t>…</a:t>
            </a:r>
          </a:p>
          <a:p>
            <a:r>
              <a:rPr lang="en-US" sz="1600" dirty="0" smtClean="0">
                <a:latin typeface="Consolas" panose="020B0609020204030204" pitchFamily="49" charset="0"/>
                <a:cs typeface="Arial" panose="020B0604020202020204" pitchFamily="34" charset="0"/>
              </a:rPr>
              <a:t>[0, 0, 0, 0, 0, 0, …, 1]</a:t>
            </a:r>
            <a:endParaRPr lang="ru-RU" sz="1600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38200" y="4615543"/>
            <a:ext cx="331315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Просто в реализации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Большой размер векторов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Нет семантики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99881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Word2Vec</a:t>
            </a:r>
            <a:r>
              <a:rPr lang="ru-RU" dirty="0" smtClean="0"/>
              <a:t>: обучение</a:t>
            </a:r>
            <a:endParaRPr lang="ru-RU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C8664-78E5-4C8A-950D-AE5D980E4814}" type="slidenum">
              <a:rPr lang="ru-RU" smtClean="0"/>
              <a:t>24</a:t>
            </a:fld>
            <a:endParaRPr lang="ru-RU"/>
          </a:p>
        </p:txBody>
      </p:sp>
      <p:sp>
        <p:nvSpPr>
          <p:cNvPr id="4" name="Прямоугольник 3"/>
          <p:cNvSpPr/>
          <p:nvPr/>
        </p:nvSpPr>
        <p:spPr>
          <a:xfrm>
            <a:off x="838200" y="2094802"/>
            <a:ext cx="5942781" cy="28623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Мой дядя </a:t>
            </a:r>
            <a:r>
              <a:rPr lang="ru-RU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самых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 честных правил когда не в шутку …</a:t>
            </a:r>
          </a:p>
          <a:p>
            <a:endParaRPr lang="ru-RU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Мой дядя самых </a:t>
            </a:r>
            <a:r>
              <a:rPr lang="ru-RU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честных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правил когда не в шутку 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  <a:p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Мой дядя самых честных </a:t>
            </a:r>
            <a:r>
              <a:rPr lang="ru-RU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правил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когда не в шутку …</a:t>
            </a:r>
          </a:p>
          <a:p>
            <a:endParaRPr lang="ru-RU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838199" y="2029098"/>
            <a:ext cx="3725091" cy="50509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1391193" y="3140481"/>
            <a:ext cx="3807824" cy="50509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1985194" y="4251864"/>
            <a:ext cx="3501205" cy="50509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8081554" y="1690688"/>
            <a:ext cx="1704313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 smtClean="0">
                <a:latin typeface="Consolas" panose="020B0609020204030204" pitchFamily="49" charset="0"/>
              </a:rPr>
              <a:t>Самых мой</a:t>
            </a:r>
          </a:p>
          <a:p>
            <a:r>
              <a:rPr lang="ru-RU" sz="1600" dirty="0" smtClean="0">
                <a:latin typeface="Consolas" panose="020B0609020204030204" pitchFamily="49" charset="0"/>
              </a:rPr>
              <a:t>Самых дядя</a:t>
            </a:r>
          </a:p>
          <a:p>
            <a:r>
              <a:rPr lang="ru-RU" sz="1600" dirty="0" smtClean="0">
                <a:latin typeface="Consolas" panose="020B0609020204030204" pitchFamily="49" charset="0"/>
              </a:rPr>
              <a:t>Самых честных</a:t>
            </a:r>
          </a:p>
          <a:p>
            <a:r>
              <a:rPr lang="ru-RU" sz="1600" dirty="0" smtClean="0">
                <a:latin typeface="Consolas" panose="020B0609020204030204" pitchFamily="49" charset="0"/>
              </a:rPr>
              <a:t>Самых правил</a:t>
            </a:r>
            <a:endParaRPr lang="ru-RU" sz="1600" dirty="0">
              <a:latin typeface="Consolas" panose="020B0609020204030204" pitchFamily="49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081553" y="2839031"/>
            <a:ext cx="175560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 smtClean="0">
                <a:latin typeface="Consolas" panose="020B0609020204030204" pitchFamily="49" charset="0"/>
              </a:rPr>
              <a:t>Честных дядя</a:t>
            </a:r>
          </a:p>
          <a:p>
            <a:r>
              <a:rPr lang="ru-RU" sz="1600" dirty="0">
                <a:latin typeface="Consolas" panose="020B0609020204030204" pitchFamily="49" charset="0"/>
              </a:rPr>
              <a:t>Честных </a:t>
            </a:r>
            <a:r>
              <a:rPr lang="ru-RU" sz="1600" dirty="0" smtClean="0">
                <a:latin typeface="Consolas" panose="020B0609020204030204" pitchFamily="49" charset="0"/>
              </a:rPr>
              <a:t>самых</a:t>
            </a:r>
            <a:endParaRPr lang="ru-RU" sz="1600" dirty="0">
              <a:latin typeface="Consolas" panose="020B0609020204030204" pitchFamily="49" charset="0"/>
            </a:endParaRPr>
          </a:p>
          <a:p>
            <a:r>
              <a:rPr lang="ru-RU" sz="1600" dirty="0">
                <a:latin typeface="Consolas" panose="020B0609020204030204" pitchFamily="49" charset="0"/>
              </a:rPr>
              <a:t>Честных </a:t>
            </a:r>
            <a:r>
              <a:rPr lang="ru-RU" sz="1600" dirty="0" smtClean="0">
                <a:latin typeface="Consolas" panose="020B0609020204030204" pitchFamily="49" charset="0"/>
              </a:rPr>
              <a:t>правил</a:t>
            </a:r>
          </a:p>
          <a:p>
            <a:r>
              <a:rPr lang="ru-RU" sz="1600" dirty="0">
                <a:latin typeface="Consolas" panose="020B0609020204030204" pitchFamily="49" charset="0"/>
              </a:rPr>
              <a:t>Честных </a:t>
            </a:r>
            <a:r>
              <a:rPr lang="ru-RU" sz="1600" dirty="0" smtClean="0">
                <a:latin typeface="Consolas" panose="020B0609020204030204" pitchFamily="49" charset="0"/>
              </a:rPr>
              <a:t>когда</a:t>
            </a:r>
            <a:endParaRPr lang="ru-RU" sz="1600" dirty="0">
              <a:latin typeface="Consolas" panose="020B0609020204030204" pitchFamily="49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081553" y="3947027"/>
            <a:ext cx="175560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 smtClean="0">
                <a:latin typeface="Consolas" panose="020B0609020204030204" pitchFamily="49" charset="0"/>
              </a:rPr>
              <a:t>Правил самых</a:t>
            </a:r>
          </a:p>
          <a:p>
            <a:r>
              <a:rPr lang="ru-RU" sz="1600" dirty="0">
                <a:latin typeface="Consolas" panose="020B0609020204030204" pitchFamily="49" charset="0"/>
              </a:rPr>
              <a:t>Правил </a:t>
            </a:r>
            <a:r>
              <a:rPr lang="ru-RU" sz="1600" dirty="0" smtClean="0">
                <a:latin typeface="Consolas" panose="020B0609020204030204" pitchFamily="49" charset="0"/>
              </a:rPr>
              <a:t>честных</a:t>
            </a:r>
            <a:endParaRPr lang="ru-RU" sz="1600" dirty="0">
              <a:latin typeface="Consolas" panose="020B0609020204030204" pitchFamily="49" charset="0"/>
            </a:endParaRPr>
          </a:p>
          <a:p>
            <a:r>
              <a:rPr lang="ru-RU" sz="1600" dirty="0">
                <a:latin typeface="Consolas" panose="020B0609020204030204" pitchFamily="49" charset="0"/>
              </a:rPr>
              <a:t>Правил </a:t>
            </a:r>
            <a:r>
              <a:rPr lang="ru-RU" sz="1600" dirty="0" smtClean="0">
                <a:latin typeface="Consolas" panose="020B0609020204030204" pitchFamily="49" charset="0"/>
              </a:rPr>
              <a:t>когда</a:t>
            </a:r>
            <a:endParaRPr lang="ru-RU" sz="1600" dirty="0">
              <a:latin typeface="Consolas" panose="020B0609020204030204" pitchFamily="49" charset="0"/>
            </a:endParaRPr>
          </a:p>
          <a:p>
            <a:r>
              <a:rPr lang="ru-RU" sz="1600" dirty="0">
                <a:latin typeface="Consolas" panose="020B0609020204030204" pitchFamily="49" charset="0"/>
              </a:rPr>
              <a:t>Правил </a:t>
            </a:r>
            <a:r>
              <a:rPr lang="ru-RU" sz="1600" dirty="0" smtClean="0">
                <a:latin typeface="Consolas" panose="020B0609020204030204" pitchFamily="49" charset="0"/>
              </a:rPr>
              <a:t>не</a:t>
            </a:r>
            <a:endParaRPr lang="ru-RU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78820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C8664-78E5-4C8A-950D-AE5D980E4814}" type="slidenum">
              <a:rPr lang="ru-RU" smtClean="0"/>
              <a:t>25</a:t>
            </a:fld>
            <a:endParaRPr lang="ru-RU"/>
          </a:p>
        </p:txBody>
      </p:sp>
      <p:sp>
        <p:nvSpPr>
          <p:cNvPr id="7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 smtClean="0"/>
              <a:t>Word2Vec</a:t>
            </a:r>
            <a:r>
              <a:rPr lang="ru-RU" dirty="0" smtClean="0"/>
              <a:t>: обучение</a:t>
            </a:r>
            <a:endParaRPr lang="ru-RU" dirty="0"/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1403291"/>
              </p:ext>
            </p:extLst>
          </p:nvPr>
        </p:nvGraphicFramePr>
        <p:xfrm>
          <a:off x="3164114" y="2496215"/>
          <a:ext cx="1477556" cy="258088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9389"/>
                <a:gridCol w="369389"/>
                <a:gridCol w="369389"/>
                <a:gridCol w="369389"/>
              </a:tblGrid>
              <a:tr h="368698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368698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368698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368698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368698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368698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368698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3923276"/>
              </p:ext>
            </p:extLst>
          </p:nvPr>
        </p:nvGraphicFramePr>
        <p:xfrm>
          <a:off x="7975599" y="2483151"/>
          <a:ext cx="1477556" cy="258088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9389"/>
                <a:gridCol w="369389"/>
                <a:gridCol w="369389"/>
                <a:gridCol w="369389"/>
              </a:tblGrid>
              <a:tr h="368698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368698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368698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368698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368698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368698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368698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11" name="Прямая со стрелкой 10"/>
          <p:cNvCxnSpPr/>
          <p:nvPr/>
        </p:nvCxnSpPr>
        <p:spPr>
          <a:xfrm>
            <a:off x="3161211" y="5364480"/>
            <a:ext cx="1454332" cy="0"/>
          </a:xfrm>
          <a:prstGeom prst="straightConnector1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/>
          <p:nvPr/>
        </p:nvCxnSpPr>
        <p:spPr>
          <a:xfrm>
            <a:off x="7990114" y="5429795"/>
            <a:ext cx="1454332" cy="0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 стрелкой 12"/>
          <p:cNvCxnSpPr/>
          <p:nvPr/>
        </p:nvCxnSpPr>
        <p:spPr>
          <a:xfrm>
            <a:off x="2656113" y="2512422"/>
            <a:ext cx="1" cy="2538550"/>
          </a:xfrm>
          <a:prstGeom prst="straightConnector1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/>
          <p:cNvCxnSpPr/>
          <p:nvPr/>
        </p:nvCxnSpPr>
        <p:spPr>
          <a:xfrm>
            <a:off x="7641770" y="2512422"/>
            <a:ext cx="1" cy="2538550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rot="16200000">
            <a:off x="1358536" y="3514912"/>
            <a:ext cx="17459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Размер словаря</a:t>
            </a:r>
            <a:endParaRPr lang="ru-RU" dirty="0"/>
          </a:p>
        </p:txBody>
      </p:sp>
      <p:sp>
        <p:nvSpPr>
          <p:cNvPr id="18" name="TextBox 17"/>
          <p:cNvSpPr txBox="1"/>
          <p:nvPr/>
        </p:nvSpPr>
        <p:spPr>
          <a:xfrm>
            <a:off x="3022274" y="5495108"/>
            <a:ext cx="1732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Размер вектора</a:t>
            </a:r>
            <a:endParaRPr lang="ru-RU" dirty="0"/>
          </a:p>
        </p:txBody>
      </p:sp>
      <p:sp>
        <p:nvSpPr>
          <p:cNvPr id="19" name="TextBox 18"/>
          <p:cNvSpPr txBox="1"/>
          <p:nvPr/>
        </p:nvSpPr>
        <p:spPr>
          <a:xfrm>
            <a:off x="3010091" y="1739142"/>
            <a:ext cx="17443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Embedding</a:t>
            </a:r>
            <a:endParaRPr lang="ru-RU" sz="2400" dirty="0">
              <a:solidFill>
                <a:schemeClr val="accent5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990114" y="1796969"/>
            <a:ext cx="12458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Context</a:t>
            </a:r>
            <a:endParaRPr lang="ru-RU" sz="2400" dirty="0">
              <a:solidFill>
                <a:schemeClr val="accent6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615543" y="2426029"/>
            <a:ext cx="801823" cy="15327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ru-RU" dirty="0" smtClean="0">
                <a:solidFill>
                  <a:schemeClr val="bg1">
                    <a:lumMod val="50000"/>
                  </a:schemeClr>
                </a:solidFill>
              </a:rPr>
              <a:t>мой</a:t>
            </a:r>
          </a:p>
          <a:p>
            <a:pPr>
              <a:lnSpc>
                <a:spcPct val="130000"/>
              </a:lnSpc>
            </a:pPr>
            <a:r>
              <a:rPr lang="ru-RU" dirty="0" smtClean="0">
                <a:solidFill>
                  <a:schemeClr val="bg1">
                    <a:lumMod val="50000"/>
                  </a:schemeClr>
                </a:solidFill>
              </a:rPr>
              <a:t>дядя</a:t>
            </a:r>
          </a:p>
          <a:p>
            <a:pPr>
              <a:lnSpc>
                <a:spcPct val="130000"/>
              </a:lnSpc>
            </a:pPr>
            <a:r>
              <a:rPr lang="ru-RU" dirty="0" smtClean="0">
                <a:solidFill>
                  <a:schemeClr val="bg1">
                    <a:lumMod val="50000"/>
                  </a:schemeClr>
                </a:solidFill>
              </a:rPr>
              <a:t>самых</a:t>
            </a:r>
          </a:p>
          <a:p>
            <a:pPr>
              <a:lnSpc>
                <a:spcPct val="130000"/>
              </a:lnSpc>
            </a:pPr>
            <a:r>
              <a:rPr lang="ru-RU" dirty="0" smtClean="0">
                <a:solidFill>
                  <a:schemeClr val="bg1">
                    <a:lumMod val="50000"/>
                  </a:schemeClr>
                </a:solidFill>
              </a:rPr>
              <a:t>…</a:t>
            </a:r>
            <a:endParaRPr lang="ru-RU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93841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C8664-78E5-4C8A-950D-AE5D980E4814}" type="slidenum">
              <a:rPr lang="ru-RU" smtClean="0"/>
              <a:t>26</a:t>
            </a:fld>
            <a:endParaRPr lang="ru-RU"/>
          </a:p>
        </p:txBody>
      </p:sp>
      <p:sp>
        <p:nvSpPr>
          <p:cNvPr id="7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 smtClean="0"/>
              <a:t>Word2Vec</a:t>
            </a:r>
            <a:r>
              <a:rPr lang="ru-RU" dirty="0" smtClean="0"/>
              <a:t>: обучение</a:t>
            </a:r>
            <a:endParaRPr lang="ru-RU" dirty="0"/>
          </a:p>
        </p:txBody>
      </p:sp>
      <p:graphicFrame>
        <p:nvGraphicFramePr>
          <p:cNvPr id="21" name="Таблица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2103178"/>
              </p:ext>
            </p:extLst>
          </p:nvPr>
        </p:nvGraphicFramePr>
        <p:xfrm>
          <a:off x="1701074" y="2687804"/>
          <a:ext cx="8127999" cy="1854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09333"/>
                <a:gridCol w="2709333"/>
                <a:gridCol w="2709333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b="1" dirty="0" smtClean="0"/>
                        <a:t>Входное слово</a:t>
                      </a:r>
                      <a:endParaRPr lang="ru-RU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 smtClean="0"/>
                        <a:t>Контекст</a:t>
                      </a:r>
                      <a:endParaRPr lang="ru-RU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 smtClean="0"/>
                        <a:t>класс</a:t>
                      </a:r>
                      <a:endParaRPr lang="ru-RU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Самых</a:t>
                      </a:r>
                      <a:endParaRPr lang="ru-RU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мой</a:t>
                      </a:r>
                      <a:endParaRPr lang="ru-RU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1</a:t>
                      </a:r>
                      <a:endParaRPr lang="ru-RU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Самых</a:t>
                      </a:r>
                      <a:endParaRPr lang="ru-RU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Онегин</a:t>
                      </a:r>
                      <a:endParaRPr lang="ru-RU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0</a:t>
                      </a:r>
                      <a:endParaRPr lang="ru-RU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Самых</a:t>
                      </a:r>
                      <a:endParaRPr lang="ru-RU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судей</a:t>
                      </a:r>
                      <a:endParaRPr lang="ru-RU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0</a:t>
                      </a:r>
                      <a:endParaRPr lang="ru-RU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Самых</a:t>
                      </a:r>
                      <a:endParaRPr lang="ru-RU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дядя</a:t>
                      </a:r>
                      <a:endParaRPr lang="ru-RU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1</a:t>
                      </a:r>
                      <a:endParaRPr lang="ru-RU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25415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C8664-78E5-4C8A-950D-AE5D980E4814}" type="slidenum">
              <a:rPr lang="ru-RU" smtClean="0"/>
              <a:t>27</a:t>
            </a:fld>
            <a:endParaRPr lang="ru-RU"/>
          </a:p>
        </p:txBody>
      </p:sp>
      <p:sp>
        <p:nvSpPr>
          <p:cNvPr id="7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 smtClean="0"/>
              <a:t>Word2Vec</a:t>
            </a:r>
            <a:r>
              <a:rPr lang="ru-RU" dirty="0" smtClean="0"/>
              <a:t>: обучение</a:t>
            </a:r>
            <a:endParaRPr lang="ru-RU" dirty="0"/>
          </a:p>
        </p:txBody>
      </p:sp>
      <p:graphicFrame>
        <p:nvGraphicFramePr>
          <p:cNvPr id="21" name="Таблица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9774022"/>
              </p:ext>
            </p:extLst>
          </p:nvPr>
        </p:nvGraphicFramePr>
        <p:xfrm>
          <a:off x="677088" y="2590640"/>
          <a:ext cx="10676712" cy="148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79452"/>
                <a:gridCol w="1779452"/>
                <a:gridCol w="1779452"/>
                <a:gridCol w="1779452"/>
                <a:gridCol w="1779452"/>
                <a:gridCol w="1779452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b="1" dirty="0" smtClean="0"/>
                        <a:t>Входное слово</a:t>
                      </a:r>
                      <a:endParaRPr lang="ru-RU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 smtClean="0"/>
                        <a:t>Контекст</a:t>
                      </a:r>
                      <a:endParaRPr lang="ru-RU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 smtClean="0"/>
                        <a:t>класс</a:t>
                      </a:r>
                      <a:endParaRPr lang="ru-RU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 smtClean="0"/>
                        <a:t>*</a:t>
                      </a:r>
                      <a:endParaRPr lang="ru-RU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Sigmoid()</a:t>
                      </a:r>
                      <a:endParaRPr lang="ru-RU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Error</a:t>
                      </a:r>
                      <a:endParaRPr lang="ru-RU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ru-RU" dirty="0" smtClean="0"/>
                        <a:t>Самых</a:t>
                      </a:r>
                      <a:endParaRPr lang="ru-RU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 smtClean="0"/>
                        <a:t>мой</a:t>
                      </a:r>
                      <a:endParaRPr lang="ru-RU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1</a:t>
                      </a:r>
                      <a:endParaRPr lang="ru-RU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0.2</a:t>
                      </a:r>
                      <a:endParaRPr lang="ru-RU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0.55</a:t>
                      </a:r>
                      <a:endParaRPr lang="ru-RU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0.45</a:t>
                      </a:r>
                      <a:endParaRPr lang="ru-RU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ru-RU" dirty="0" smtClean="0"/>
                        <a:t>Самых</a:t>
                      </a:r>
                      <a:endParaRPr lang="ru-RU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 smtClean="0"/>
                        <a:t>Онегин</a:t>
                      </a:r>
                      <a:endParaRPr lang="ru-RU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0</a:t>
                      </a:r>
                      <a:endParaRPr lang="ru-RU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0.74</a:t>
                      </a:r>
                      <a:endParaRPr lang="ru-RU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0.68</a:t>
                      </a:r>
                      <a:endParaRPr lang="ru-RU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0.68</a:t>
                      </a:r>
                      <a:endParaRPr lang="ru-RU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ru-RU" dirty="0" smtClean="0"/>
                        <a:t>Самых</a:t>
                      </a:r>
                      <a:endParaRPr lang="ru-RU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 smtClean="0"/>
                        <a:t>судей</a:t>
                      </a:r>
                      <a:endParaRPr lang="ru-RU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0</a:t>
                      </a:r>
                      <a:endParaRPr lang="ru-RU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-1.11</a:t>
                      </a:r>
                      <a:endParaRPr lang="ru-RU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0.25</a:t>
                      </a:r>
                      <a:endParaRPr lang="ru-RU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0.25</a:t>
                      </a:r>
                      <a:endParaRPr lang="ru-RU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818" y="3029826"/>
            <a:ext cx="973709" cy="253054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9210" y="3029826"/>
            <a:ext cx="1000968" cy="253054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9210" y="3399940"/>
            <a:ext cx="1000968" cy="253054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9210" y="3770054"/>
            <a:ext cx="1000968" cy="253054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817" y="3399940"/>
            <a:ext cx="973709" cy="253054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816" y="3770054"/>
            <a:ext cx="973709" cy="253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0904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C8664-78E5-4C8A-950D-AE5D980E4814}" type="slidenum">
              <a:rPr lang="ru-RU" smtClean="0"/>
              <a:t>28</a:t>
            </a:fld>
            <a:endParaRPr lang="ru-RU"/>
          </a:p>
        </p:txBody>
      </p:sp>
      <p:sp>
        <p:nvSpPr>
          <p:cNvPr id="7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 smtClean="0"/>
              <a:t>Word2Vec</a:t>
            </a:r>
            <a:r>
              <a:rPr lang="ru-RU" dirty="0" smtClean="0"/>
              <a:t>: итоги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861" y="1890726"/>
            <a:ext cx="4679584" cy="183717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8991" y="1792160"/>
            <a:ext cx="4562404" cy="2014113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8226" y="4170838"/>
            <a:ext cx="4578494" cy="1973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1507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C8664-78E5-4C8A-950D-AE5D980E4814}" type="slidenum">
              <a:rPr lang="ru-RU" smtClean="0"/>
              <a:t>29</a:t>
            </a:fld>
            <a:endParaRPr lang="ru-RU"/>
          </a:p>
        </p:txBody>
      </p:sp>
      <p:sp>
        <p:nvSpPr>
          <p:cNvPr id="7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 smtClean="0"/>
              <a:t>Word2Vec</a:t>
            </a:r>
            <a:r>
              <a:rPr lang="ru-RU" dirty="0" smtClean="0"/>
              <a:t>: итоги</a:t>
            </a:r>
            <a:endParaRPr lang="ru-RU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018" y="1907872"/>
            <a:ext cx="10659963" cy="3686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4795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C8664-78E5-4C8A-950D-AE5D980E4814}" type="slidenum">
              <a:rPr lang="ru-RU" smtClean="0"/>
              <a:t>30</a:t>
            </a:fld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888" y="164828"/>
            <a:ext cx="8787598" cy="553504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6023" y="6261463"/>
            <a:ext cx="8441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Шуберт, Шостакович, Чайковский, Прокофьев, Свиридов, Моцарт, Бетховен, Шопен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401050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C8664-78E5-4C8A-950D-AE5D980E4814}" type="slidenum">
              <a:rPr lang="ru-RU" smtClean="0"/>
              <a:t>31</a:t>
            </a:fld>
            <a:endParaRPr lang="ru-RU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4757" y="0"/>
            <a:ext cx="96321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2560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C8664-78E5-4C8A-950D-AE5D980E4814}" type="slidenum">
              <a:rPr lang="ru-RU" smtClean="0"/>
              <a:t>32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831" y="0"/>
            <a:ext cx="96321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9371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C8664-78E5-4C8A-950D-AE5D980E4814}" type="slidenum">
              <a:rPr lang="ru-RU" smtClean="0"/>
              <a:t>33</a:t>
            </a:fld>
            <a:endParaRPr lang="ru-RU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417" y="0"/>
            <a:ext cx="96321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1581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Более современные варианты</a:t>
            </a:r>
            <a:endParaRPr lang="ru-RU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C8664-78E5-4C8A-950D-AE5D980E4814}" type="slidenum">
              <a:rPr lang="ru-RU" smtClean="0"/>
              <a:t>34</a:t>
            </a:fld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838200" y="2307771"/>
            <a:ext cx="311559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Учёт контекста</a:t>
            </a:r>
          </a:p>
          <a:p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Архитектура: </a:t>
            </a:r>
            <a:r>
              <a:rPr lang="ru-RU" dirty="0" err="1" smtClean="0">
                <a:latin typeface="Arial" panose="020B0604020202020204" pitchFamily="34" charset="0"/>
                <a:cs typeface="Arial" panose="020B0604020202020204" pitchFamily="34" charset="0"/>
              </a:rPr>
              <a:t>трансформер</a:t>
            </a:r>
            <a:endParaRPr lang="ru-RU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Пример: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BERT</a:t>
            </a:r>
          </a:p>
          <a:p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994634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9374</TotalTime>
  <Words>1852</Words>
  <Application>Microsoft Office PowerPoint</Application>
  <PresentationFormat>Широкоэкранный</PresentationFormat>
  <Paragraphs>347</Paragraphs>
  <Slides>34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34</vt:i4>
      </vt:variant>
    </vt:vector>
  </HeadingPairs>
  <TitlesOfParts>
    <vt:vector size="39" baseType="lpstr">
      <vt:lpstr>Arial</vt:lpstr>
      <vt:lpstr>Calibri</vt:lpstr>
      <vt:lpstr>Cambria Math</vt:lpstr>
      <vt:lpstr>Consolas</vt:lpstr>
      <vt:lpstr>Тема Office</vt:lpstr>
      <vt:lpstr>Tokenization и Embeddings</vt:lpstr>
      <vt:lpstr>1. Токенизация</vt:lpstr>
      <vt:lpstr>Токенизация</vt:lpstr>
      <vt:lpstr>BPE</vt:lpstr>
      <vt:lpstr>Пример работы BPE</vt:lpstr>
      <vt:lpstr>Пример работы BPE</vt:lpstr>
      <vt:lpstr>Пример работы BPE</vt:lpstr>
      <vt:lpstr>Пример работы BPE</vt:lpstr>
      <vt:lpstr>Пример работы BPE</vt:lpstr>
      <vt:lpstr>Пример работы BPE</vt:lpstr>
      <vt:lpstr>WordPiece</vt:lpstr>
      <vt:lpstr>Пример работы WordPiece</vt:lpstr>
      <vt:lpstr>Пример работы WordPiece</vt:lpstr>
      <vt:lpstr>Unigram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2. Векторизация</vt:lpstr>
      <vt:lpstr>One-Hot Encoding</vt:lpstr>
      <vt:lpstr>Word2Vec: обучение</vt:lpstr>
      <vt:lpstr>Word2Vec: обучение</vt:lpstr>
      <vt:lpstr>Word2Vec: обучение</vt:lpstr>
      <vt:lpstr>Word2Vec: обучение</vt:lpstr>
      <vt:lpstr>Word2Vec: итоги</vt:lpstr>
      <vt:lpstr>Word2Vec: итоги</vt:lpstr>
      <vt:lpstr>Презентация PowerPoint</vt:lpstr>
      <vt:lpstr>Презентация PowerPoint</vt:lpstr>
      <vt:lpstr>Презентация PowerPoint</vt:lpstr>
      <vt:lpstr>Презентация PowerPoint</vt:lpstr>
      <vt:lpstr>Более современные варианты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Пользователь Windows</dc:creator>
  <cp:lastModifiedBy>Пользователь Windows</cp:lastModifiedBy>
  <cp:revision>147</cp:revision>
  <dcterms:created xsi:type="dcterms:W3CDTF">2026-06-02T17:11:09Z</dcterms:created>
  <dcterms:modified xsi:type="dcterms:W3CDTF">2026-06-09T22:29:13Z</dcterms:modified>
</cp:coreProperties>
</file>